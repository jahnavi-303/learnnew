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8" r:id="rId12"/>
    <p:sldId id="269" r:id="rId13"/>
    <p:sldId id="270" r:id="rId14"/>
    <p:sldId id="271" r:id="rId15"/>
    <p:sldId id="272" r:id="rId16"/>
    <p:sldId id="273"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5" d="100"/>
          <a:sy n="95" d="100"/>
        </p:scale>
        <p:origin x="206"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hnavi, Yerramelli (uie72011)" userId="9c99158e-b88d-4f98-b06c-96aef579335d" providerId="ADAL" clId="{684C8EF4-EFF5-453F-9FF8-1866749F689B}"/>
    <pc:docChg chg="custSel modSld">
      <pc:chgData name="Jahnavi, Yerramelli (uie72011)" userId="9c99158e-b88d-4f98-b06c-96aef579335d" providerId="ADAL" clId="{684C8EF4-EFF5-453F-9FF8-1866749F689B}" dt="2021-12-08T09:45:07.441" v="13" actId="20577"/>
      <pc:docMkLst>
        <pc:docMk/>
      </pc:docMkLst>
      <pc:sldChg chg="modSp mod">
        <pc:chgData name="Jahnavi, Yerramelli (uie72011)" userId="9c99158e-b88d-4f98-b06c-96aef579335d" providerId="ADAL" clId="{684C8EF4-EFF5-453F-9FF8-1866749F689B}" dt="2021-12-08T09:45:07.441" v="13" actId="20577"/>
        <pc:sldMkLst>
          <pc:docMk/>
          <pc:sldMk cId="230586564" sldId="256"/>
        </pc:sldMkLst>
        <pc:spChg chg="mod">
          <ac:chgData name="Jahnavi, Yerramelli (uie72011)" userId="9c99158e-b88d-4f98-b06c-96aef579335d" providerId="ADAL" clId="{684C8EF4-EFF5-453F-9FF8-1866749F689B}" dt="2021-12-08T09:45:07.441" v="13" actId="20577"/>
          <ac:spMkLst>
            <pc:docMk/>
            <pc:sldMk cId="230586564" sldId="256"/>
            <ac:spMk id="2" creationId="{EDA568CF-BADE-4EE8-A500-0B44F428238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98F2-2423-4F90-8B34-D63D518ABE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A86020-5D24-49E6-9626-87E4162439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BE19DB-9AA7-4ED4-9F6E-CA9C18A32D60}"/>
              </a:ext>
            </a:extLst>
          </p:cNvPr>
          <p:cNvSpPr>
            <a:spLocks noGrp="1"/>
          </p:cNvSpPr>
          <p:nvPr>
            <p:ph type="dt" sz="half" idx="10"/>
          </p:nvPr>
        </p:nvSpPr>
        <p:spPr/>
        <p:txBody>
          <a:bodyPr/>
          <a:lstStyle/>
          <a:p>
            <a:fld id="{59FCF83B-7E8A-40BF-ABA3-99D204EF2989}" type="datetimeFigureOut">
              <a:rPr lang="en-US" smtClean="0"/>
              <a:t>11/21/2025</a:t>
            </a:fld>
            <a:endParaRPr lang="en-US"/>
          </a:p>
        </p:txBody>
      </p:sp>
      <p:sp>
        <p:nvSpPr>
          <p:cNvPr id="5" name="Footer Placeholder 4">
            <a:extLst>
              <a:ext uri="{FF2B5EF4-FFF2-40B4-BE49-F238E27FC236}">
                <a16:creationId xmlns:a16="http://schemas.microsoft.com/office/drawing/2014/main" id="{B9047D2F-E103-4E1F-9CCD-F286AE443B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8BFDAD-5743-486B-8DE4-B91312A3D389}"/>
              </a:ext>
            </a:extLst>
          </p:cNvPr>
          <p:cNvSpPr>
            <a:spLocks noGrp="1"/>
          </p:cNvSpPr>
          <p:nvPr>
            <p:ph type="sldNum" sz="quarter" idx="12"/>
          </p:nvPr>
        </p:nvSpPr>
        <p:spPr/>
        <p:txBody>
          <a:bodyPr/>
          <a:lstStyle/>
          <a:p>
            <a:fld id="{32758921-EDF8-4173-BF91-611BD2588933}" type="slidenum">
              <a:rPr lang="en-US" smtClean="0"/>
              <a:t>‹#›</a:t>
            </a:fld>
            <a:endParaRPr lang="en-US"/>
          </a:p>
        </p:txBody>
      </p:sp>
    </p:spTree>
    <p:extLst>
      <p:ext uri="{BB962C8B-B14F-4D97-AF65-F5344CB8AC3E}">
        <p14:creationId xmlns:p14="http://schemas.microsoft.com/office/powerpoint/2010/main" val="3183888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4C5CA-2B84-4A79-ADE8-D8CD0A7F7E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48F56E-458B-4B03-BA44-C5805F6C7D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5B4455-6AF6-4B06-AAAD-0F9F0A26AB7C}"/>
              </a:ext>
            </a:extLst>
          </p:cNvPr>
          <p:cNvSpPr>
            <a:spLocks noGrp="1"/>
          </p:cNvSpPr>
          <p:nvPr>
            <p:ph type="dt" sz="half" idx="10"/>
          </p:nvPr>
        </p:nvSpPr>
        <p:spPr/>
        <p:txBody>
          <a:bodyPr/>
          <a:lstStyle/>
          <a:p>
            <a:fld id="{59FCF83B-7E8A-40BF-ABA3-99D204EF2989}" type="datetimeFigureOut">
              <a:rPr lang="en-US" smtClean="0"/>
              <a:t>11/21/2025</a:t>
            </a:fld>
            <a:endParaRPr lang="en-US"/>
          </a:p>
        </p:txBody>
      </p:sp>
      <p:sp>
        <p:nvSpPr>
          <p:cNvPr id="5" name="Footer Placeholder 4">
            <a:extLst>
              <a:ext uri="{FF2B5EF4-FFF2-40B4-BE49-F238E27FC236}">
                <a16:creationId xmlns:a16="http://schemas.microsoft.com/office/drawing/2014/main" id="{BEF3EB2B-DA1D-491D-8298-E1F77F78FC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D04FFF-EF6C-498F-B99E-7895AF90759E}"/>
              </a:ext>
            </a:extLst>
          </p:cNvPr>
          <p:cNvSpPr>
            <a:spLocks noGrp="1"/>
          </p:cNvSpPr>
          <p:nvPr>
            <p:ph type="sldNum" sz="quarter" idx="12"/>
          </p:nvPr>
        </p:nvSpPr>
        <p:spPr/>
        <p:txBody>
          <a:bodyPr/>
          <a:lstStyle/>
          <a:p>
            <a:fld id="{32758921-EDF8-4173-BF91-611BD2588933}" type="slidenum">
              <a:rPr lang="en-US" smtClean="0"/>
              <a:t>‹#›</a:t>
            </a:fld>
            <a:endParaRPr lang="en-US"/>
          </a:p>
        </p:txBody>
      </p:sp>
    </p:spTree>
    <p:extLst>
      <p:ext uri="{BB962C8B-B14F-4D97-AF65-F5344CB8AC3E}">
        <p14:creationId xmlns:p14="http://schemas.microsoft.com/office/powerpoint/2010/main" val="3835858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3634C-102E-45DF-A2C9-25201FB602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AD9047-A0F2-4979-88A4-1AFA58858A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C8A356-3BDA-4DB6-BAED-0D6E2392A15C}"/>
              </a:ext>
            </a:extLst>
          </p:cNvPr>
          <p:cNvSpPr>
            <a:spLocks noGrp="1"/>
          </p:cNvSpPr>
          <p:nvPr>
            <p:ph type="dt" sz="half" idx="10"/>
          </p:nvPr>
        </p:nvSpPr>
        <p:spPr/>
        <p:txBody>
          <a:bodyPr/>
          <a:lstStyle/>
          <a:p>
            <a:fld id="{59FCF83B-7E8A-40BF-ABA3-99D204EF2989}" type="datetimeFigureOut">
              <a:rPr lang="en-US" smtClean="0"/>
              <a:t>11/21/2025</a:t>
            </a:fld>
            <a:endParaRPr lang="en-US"/>
          </a:p>
        </p:txBody>
      </p:sp>
      <p:sp>
        <p:nvSpPr>
          <p:cNvPr id="5" name="Footer Placeholder 4">
            <a:extLst>
              <a:ext uri="{FF2B5EF4-FFF2-40B4-BE49-F238E27FC236}">
                <a16:creationId xmlns:a16="http://schemas.microsoft.com/office/drawing/2014/main" id="{1DED0D5B-64EE-4312-B3EF-AE73F19F1E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4A253F-F375-48A9-AA63-251B2400F993}"/>
              </a:ext>
            </a:extLst>
          </p:cNvPr>
          <p:cNvSpPr>
            <a:spLocks noGrp="1"/>
          </p:cNvSpPr>
          <p:nvPr>
            <p:ph type="sldNum" sz="quarter" idx="12"/>
          </p:nvPr>
        </p:nvSpPr>
        <p:spPr/>
        <p:txBody>
          <a:bodyPr/>
          <a:lstStyle/>
          <a:p>
            <a:fld id="{32758921-EDF8-4173-BF91-611BD2588933}" type="slidenum">
              <a:rPr lang="en-US" smtClean="0"/>
              <a:t>‹#›</a:t>
            </a:fld>
            <a:endParaRPr lang="en-US"/>
          </a:p>
        </p:txBody>
      </p:sp>
    </p:spTree>
    <p:extLst>
      <p:ext uri="{BB962C8B-B14F-4D97-AF65-F5344CB8AC3E}">
        <p14:creationId xmlns:p14="http://schemas.microsoft.com/office/powerpoint/2010/main" val="4103396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5473F-63AB-4C8C-9043-63BAB4E84A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2FE4CC-D1F9-42D7-A478-83CFAC3FD9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C9310B-BA37-477F-9D2C-A59B2C5ED6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B60F8E-BD12-40F7-80A1-EC4AE4BBAE4C}"/>
              </a:ext>
            </a:extLst>
          </p:cNvPr>
          <p:cNvSpPr>
            <a:spLocks noGrp="1"/>
          </p:cNvSpPr>
          <p:nvPr>
            <p:ph type="dt" sz="half" idx="10"/>
          </p:nvPr>
        </p:nvSpPr>
        <p:spPr/>
        <p:txBody>
          <a:bodyPr/>
          <a:lstStyle/>
          <a:p>
            <a:fld id="{59FCF83B-7E8A-40BF-ABA3-99D204EF2989}" type="datetimeFigureOut">
              <a:rPr lang="en-US" smtClean="0"/>
              <a:t>11/21/2025</a:t>
            </a:fld>
            <a:endParaRPr lang="en-US"/>
          </a:p>
        </p:txBody>
      </p:sp>
      <p:sp>
        <p:nvSpPr>
          <p:cNvPr id="6" name="Footer Placeholder 5">
            <a:extLst>
              <a:ext uri="{FF2B5EF4-FFF2-40B4-BE49-F238E27FC236}">
                <a16:creationId xmlns:a16="http://schemas.microsoft.com/office/drawing/2014/main" id="{CC9C39DA-153A-4E53-9CC9-FA5A5335D6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1A9BBD-B341-4301-B85B-550F5D2FB657}"/>
              </a:ext>
            </a:extLst>
          </p:cNvPr>
          <p:cNvSpPr>
            <a:spLocks noGrp="1"/>
          </p:cNvSpPr>
          <p:nvPr>
            <p:ph type="sldNum" sz="quarter" idx="12"/>
          </p:nvPr>
        </p:nvSpPr>
        <p:spPr/>
        <p:txBody>
          <a:bodyPr/>
          <a:lstStyle/>
          <a:p>
            <a:fld id="{32758921-EDF8-4173-BF91-611BD2588933}" type="slidenum">
              <a:rPr lang="en-US" smtClean="0"/>
              <a:t>‹#›</a:t>
            </a:fld>
            <a:endParaRPr lang="en-US"/>
          </a:p>
        </p:txBody>
      </p:sp>
    </p:spTree>
    <p:extLst>
      <p:ext uri="{BB962C8B-B14F-4D97-AF65-F5344CB8AC3E}">
        <p14:creationId xmlns:p14="http://schemas.microsoft.com/office/powerpoint/2010/main" val="3679786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911D8-2151-4658-A1B6-32B6A7CF11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4B5D09-157E-45E8-9D53-405BC9CB41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71FA76-C712-435D-8215-3A364F8E33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6BDA9D-5008-4EAA-B4B7-CD972C0E44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B22D5F-8138-4B91-81CF-39508B46A5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4EAB61-7D81-400A-87E0-887DF9ED1C6D}"/>
              </a:ext>
            </a:extLst>
          </p:cNvPr>
          <p:cNvSpPr>
            <a:spLocks noGrp="1"/>
          </p:cNvSpPr>
          <p:nvPr>
            <p:ph type="dt" sz="half" idx="10"/>
          </p:nvPr>
        </p:nvSpPr>
        <p:spPr/>
        <p:txBody>
          <a:bodyPr/>
          <a:lstStyle/>
          <a:p>
            <a:fld id="{59FCF83B-7E8A-40BF-ABA3-99D204EF2989}" type="datetimeFigureOut">
              <a:rPr lang="en-US" smtClean="0"/>
              <a:t>11/21/2025</a:t>
            </a:fld>
            <a:endParaRPr lang="en-US"/>
          </a:p>
        </p:txBody>
      </p:sp>
      <p:sp>
        <p:nvSpPr>
          <p:cNvPr id="8" name="Footer Placeholder 7">
            <a:extLst>
              <a:ext uri="{FF2B5EF4-FFF2-40B4-BE49-F238E27FC236}">
                <a16:creationId xmlns:a16="http://schemas.microsoft.com/office/drawing/2014/main" id="{63E8BD24-2830-4E71-BF2E-B5538B940F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5045EB2-BF95-47F8-9675-386FA8B41F58}"/>
              </a:ext>
            </a:extLst>
          </p:cNvPr>
          <p:cNvSpPr>
            <a:spLocks noGrp="1"/>
          </p:cNvSpPr>
          <p:nvPr>
            <p:ph type="sldNum" sz="quarter" idx="12"/>
          </p:nvPr>
        </p:nvSpPr>
        <p:spPr/>
        <p:txBody>
          <a:bodyPr/>
          <a:lstStyle/>
          <a:p>
            <a:fld id="{32758921-EDF8-4173-BF91-611BD2588933}" type="slidenum">
              <a:rPr lang="en-US" smtClean="0"/>
              <a:t>‹#›</a:t>
            </a:fld>
            <a:endParaRPr lang="en-US"/>
          </a:p>
        </p:txBody>
      </p:sp>
    </p:spTree>
    <p:extLst>
      <p:ext uri="{BB962C8B-B14F-4D97-AF65-F5344CB8AC3E}">
        <p14:creationId xmlns:p14="http://schemas.microsoft.com/office/powerpoint/2010/main" val="3706635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1124C-89BF-42DB-8B31-A581E420D1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FE87CF-2603-4B9B-9D20-F928A984D382}"/>
              </a:ext>
            </a:extLst>
          </p:cNvPr>
          <p:cNvSpPr>
            <a:spLocks noGrp="1"/>
          </p:cNvSpPr>
          <p:nvPr>
            <p:ph type="dt" sz="half" idx="10"/>
          </p:nvPr>
        </p:nvSpPr>
        <p:spPr/>
        <p:txBody>
          <a:bodyPr/>
          <a:lstStyle/>
          <a:p>
            <a:fld id="{59FCF83B-7E8A-40BF-ABA3-99D204EF2989}" type="datetimeFigureOut">
              <a:rPr lang="en-US" smtClean="0"/>
              <a:t>11/21/2025</a:t>
            </a:fld>
            <a:endParaRPr lang="en-US"/>
          </a:p>
        </p:txBody>
      </p:sp>
      <p:sp>
        <p:nvSpPr>
          <p:cNvPr id="4" name="Footer Placeholder 3">
            <a:extLst>
              <a:ext uri="{FF2B5EF4-FFF2-40B4-BE49-F238E27FC236}">
                <a16:creationId xmlns:a16="http://schemas.microsoft.com/office/drawing/2014/main" id="{9FC10665-DD65-4BA7-BD6B-A1D62B5889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97E18D-9A8F-4DC4-9B39-3AEDAD7CB399}"/>
              </a:ext>
            </a:extLst>
          </p:cNvPr>
          <p:cNvSpPr>
            <a:spLocks noGrp="1"/>
          </p:cNvSpPr>
          <p:nvPr>
            <p:ph type="sldNum" sz="quarter" idx="12"/>
          </p:nvPr>
        </p:nvSpPr>
        <p:spPr/>
        <p:txBody>
          <a:bodyPr/>
          <a:lstStyle/>
          <a:p>
            <a:fld id="{32758921-EDF8-4173-BF91-611BD2588933}" type="slidenum">
              <a:rPr lang="en-US" smtClean="0"/>
              <a:t>‹#›</a:t>
            </a:fld>
            <a:endParaRPr lang="en-US"/>
          </a:p>
        </p:txBody>
      </p:sp>
    </p:spTree>
    <p:extLst>
      <p:ext uri="{BB962C8B-B14F-4D97-AF65-F5344CB8AC3E}">
        <p14:creationId xmlns:p14="http://schemas.microsoft.com/office/powerpoint/2010/main" val="120457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B7BD5D-B88E-4ED7-B670-AC441E539057}"/>
              </a:ext>
            </a:extLst>
          </p:cNvPr>
          <p:cNvSpPr>
            <a:spLocks noGrp="1"/>
          </p:cNvSpPr>
          <p:nvPr>
            <p:ph type="dt" sz="half" idx="10"/>
          </p:nvPr>
        </p:nvSpPr>
        <p:spPr/>
        <p:txBody>
          <a:bodyPr/>
          <a:lstStyle/>
          <a:p>
            <a:fld id="{59FCF83B-7E8A-40BF-ABA3-99D204EF2989}" type="datetimeFigureOut">
              <a:rPr lang="en-US" smtClean="0"/>
              <a:t>11/21/2025</a:t>
            </a:fld>
            <a:endParaRPr lang="en-US"/>
          </a:p>
        </p:txBody>
      </p:sp>
      <p:sp>
        <p:nvSpPr>
          <p:cNvPr id="3" name="Footer Placeholder 2">
            <a:extLst>
              <a:ext uri="{FF2B5EF4-FFF2-40B4-BE49-F238E27FC236}">
                <a16:creationId xmlns:a16="http://schemas.microsoft.com/office/drawing/2014/main" id="{5BFA78DD-66EE-41A2-B95D-F172CF425A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DE421B-E9FA-47EF-B0B3-2A3D46E47B54}"/>
              </a:ext>
            </a:extLst>
          </p:cNvPr>
          <p:cNvSpPr>
            <a:spLocks noGrp="1"/>
          </p:cNvSpPr>
          <p:nvPr>
            <p:ph type="sldNum" sz="quarter" idx="12"/>
          </p:nvPr>
        </p:nvSpPr>
        <p:spPr/>
        <p:txBody>
          <a:bodyPr/>
          <a:lstStyle/>
          <a:p>
            <a:fld id="{32758921-EDF8-4173-BF91-611BD2588933}" type="slidenum">
              <a:rPr lang="en-US" smtClean="0"/>
              <a:t>‹#›</a:t>
            </a:fld>
            <a:endParaRPr lang="en-US"/>
          </a:p>
        </p:txBody>
      </p:sp>
    </p:spTree>
    <p:extLst>
      <p:ext uri="{BB962C8B-B14F-4D97-AF65-F5344CB8AC3E}">
        <p14:creationId xmlns:p14="http://schemas.microsoft.com/office/powerpoint/2010/main" val="2314728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4ED9A-A18D-424C-815B-FDDC98CB47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E36D8B-5F52-44A1-9EFD-8533731759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D65C1F-8E17-495E-8FD7-A01411A1C7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3F1A26-DCC8-46C1-BA9A-B14152A0E85E}"/>
              </a:ext>
            </a:extLst>
          </p:cNvPr>
          <p:cNvSpPr>
            <a:spLocks noGrp="1"/>
          </p:cNvSpPr>
          <p:nvPr>
            <p:ph type="dt" sz="half" idx="10"/>
          </p:nvPr>
        </p:nvSpPr>
        <p:spPr/>
        <p:txBody>
          <a:bodyPr/>
          <a:lstStyle/>
          <a:p>
            <a:fld id="{59FCF83B-7E8A-40BF-ABA3-99D204EF2989}" type="datetimeFigureOut">
              <a:rPr lang="en-US" smtClean="0"/>
              <a:t>11/21/2025</a:t>
            </a:fld>
            <a:endParaRPr lang="en-US"/>
          </a:p>
        </p:txBody>
      </p:sp>
      <p:sp>
        <p:nvSpPr>
          <p:cNvPr id="6" name="Footer Placeholder 5">
            <a:extLst>
              <a:ext uri="{FF2B5EF4-FFF2-40B4-BE49-F238E27FC236}">
                <a16:creationId xmlns:a16="http://schemas.microsoft.com/office/drawing/2014/main" id="{E211CB43-88FF-41D9-AC8F-492ABC537A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9142A2-4C19-4EA8-A336-18B64E629D73}"/>
              </a:ext>
            </a:extLst>
          </p:cNvPr>
          <p:cNvSpPr>
            <a:spLocks noGrp="1"/>
          </p:cNvSpPr>
          <p:nvPr>
            <p:ph type="sldNum" sz="quarter" idx="12"/>
          </p:nvPr>
        </p:nvSpPr>
        <p:spPr/>
        <p:txBody>
          <a:bodyPr/>
          <a:lstStyle/>
          <a:p>
            <a:fld id="{32758921-EDF8-4173-BF91-611BD2588933}" type="slidenum">
              <a:rPr lang="en-US" smtClean="0"/>
              <a:t>‹#›</a:t>
            </a:fld>
            <a:endParaRPr lang="en-US"/>
          </a:p>
        </p:txBody>
      </p:sp>
    </p:spTree>
    <p:extLst>
      <p:ext uri="{BB962C8B-B14F-4D97-AF65-F5344CB8AC3E}">
        <p14:creationId xmlns:p14="http://schemas.microsoft.com/office/powerpoint/2010/main" val="2644802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A58C4-D175-4BCF-87BB-93E01A6EBA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CD7EBB-7665-4DEB-9F4E-ED7F4B2AD2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5CE4371-D236-4A14-AE26-8E8D3D4416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0EB4C1-3846-4244-AF7B-2C9783879B82}"/>
              </a:ext>
            </a:extLst>
          </p:cNvPr>
          <p:cNvSpPr>
            <a:spLocks noGrp="1"/>
          </p:cNvSpPr>
          <p:nvPr>
            <p:ph type="dt" sz="half" idx="10"/>
          </p:nvPr>
        </p:nvSpPr>
        <p:spPr/>
        <p:txBody>
          <a:bodyPr/>
          <a:lstStyle/>
          <a:p>
            <a:fld id="{59FCF83B-7E8A-40BF-ABA3-99D204EF2989}" type="datetimeFigureOut">
              <a:rPr lang="en-US" smtClean="0"/>
              <a:t>11/21/2025</a:t>
            </a:fld>
            <a:endParaRPr lang="en-US"/>
          </a:p>
        </p:txBody>
      </p:sp>
      <p:sp>
        <p:nvSpPr>
          <p:cNvPr id="6" name="Footer Placeholder 5">
            <a:extLst>
              <a:ext uri="{FF2B5EF4-FFF2-40B4-BE49-F238E27FC236}">
                <a16:creationId xmlns:a16="http://schemas.microsoft.com/office/drawing/2014/main" id="{E62E9658-2951-4781-A721-A891CA0A28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3B7A14-7C19-4902-8A67-ED6D61ACA9CC}"/>
              </a:ext>
            </a:extLst>
          </p:cNvPr>
          <p:cNvSpPr>
            <a:spLocks noGrp="1"/>
          </p:cNvSpPr>
          <p:nvPr>
            <p:ph type="sldNum" sz="quarter" idx="12"/>
          </p:nvPr>
        </p:nvSpPr>
        <p:spPr/>
        <p:txBody>
          <a:bodyPr/>
          <a:lstStyle/>
          <a:p>
            <a:fld id="{32758921-EDF8-4173-BF91-611BD2588933}" type="slidenum">
              <a:rPr lang="en-US" smtClean="0"/>
              <a:t>‹#›</a:t>
            </a:fld>
            <a:endParaRPr lang="en-US"/>
          </a:p>
        </p:txBody>
      </p:sp>
    </p:spTree>
    <p:extLst>
      <p:ext uri="{BB962C8B-B14F-4D97-AF65-F5344CB8AC3E}">
        <p14:creationId xmlns:p14="http://schemas.microsoft.com/office/powerpoint/2010/main" val="1710299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B4B0D-6BEA-42B8-95B8-9D973D6331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48A67E-9B63-4549-AA47-CF9A8021EB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C59D0B-7D95-4B41-86A7-C4EC3B4F8D14}"/>
              </a:ext>
            </a:extLst>
          </p:cNvPr>
          <p:cNvSpPr>
            <a:spLocks noGrp="1"/>
          </p:cNvSpPr>
          <p:nvPr>
            <p:ph type="dt" sz="half" idx="10"/>
          </p:nvPr>
        </p:nvSpPr>
        <p:spPr/>
        <p:txBody>
          <a:bodyPr/>
          <a:lstStyle/>
          <a:p>
            <a:fld id="{59FCF83B-7E8A-40BF-ABA3-99D204EF2989}" type="datetimeFigureOut">
              <a:rPr lang="en-US" smtClean="0"/>
              <a:t>11/21/2025</a:t>
            </a:fld>
            <a:endParaRPr lang="en-US"/>
          </a:p>
        </p:txBody>
      </p:sp>
      <p:sp>
        <p:nvSpPr>
          <p:cNvPr id="5" name="Footer Placeholder 4">
            <a:extLst>
              <a:ext uri="{FF2B5EF4-FFF2-40B4-BE49-F238E27FC236}">
                <a16:creationId xmlns:a16="http://schemas.microsoft.com/office/drawing/2014/main" id="{D25618D4-458C-429C-8CAE-5E25EEEF21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8E24A9-E439-4E62-9A22-1846ABFFFFEA}"/>
              </a:ext>
            </a:extLst>
          </p:cNvPr>
          <p:cNvSpPr>
            <a:spLocks noGrp="1"/>
          </p:cNvSpPr>
          <p:nvPr>
            <p:ph type="sldNum" sz="quarter" idx="12"/>
          </p:nvPr>
        </p:nvSpPr>
        <p:spPr/>
        <p:txBody>
          <a:bodyPr/>
          <a:lstStyle/>
          <a:p>
            <a:fld id="{32758921-EDF8-4173-BF91-611BD2588933}" type="slidenum">
              <a:rPr lang="en-US" smtClean="0"/>
              <a:t>‹#›</a:t>
            </a:fld>
            <a:endParaRPr lang="en-US"/>
          </a:p>
        </p:txBody>
      </p:sp>
    </p:spTree>
    <p:extLst>
      <p:ext uri="{BB962C8B-B14F-4D97-AF65-F5344CB8AC3E}">
        <p14:creationId xmlns:p14="http://schemas.microsoft.com/office/powerpoint/2010/main" val="1428704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18BE40-84C2-4205-B3D1-CE7B3076FD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ED5559-A9DE-4FD5-AA17-1ECEC805A0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6E0B5E-DE7E-4B21-AFC2-6302F035E42B}"/>
              </a:ext>
            </a:extLst>
          </p:cNvPr>
          <p:cNvSpPr>
            <a:spLocks noGrp="1"/>
          </p:cNvSpPr>
          <p:nvPr>
            <p:ph type="dt" sz="half" idx="10"/>
          </p:nvPr>
        </p:nvSpPr>
        <p:spPr/>
        <p:txBody>
          <a:bodyPr/>
          <a:lstStyle/>
          <a:p>
            <a:fld id="{59FCF83B-7E8A-40BF-ABA3-99D204EF2989}" type="datetimeFigureOut">
              <a:rPr lang="en-US" smtClean="0"/>
              <a:t>11/21/2025</a:t>
            </a:fld>
            <a:endParaRPr lang="en-US"/>
          </a:p>
        </p:txBody>
      </p:sp>
      <p:sp>
        <p:nvSpPr>
          <p:cNvPr id="5" name="Footer Placeholder 4">
            <a:extLst>
              <a:ext uri="{FF2B5EF4-FFF2-40B4-BE49-F238E27FC236}">
                <a16:creationId xmlns:a16="http://schemas.microsoft.com/office/drawing/2014/main" id="{67A285D0-7F3F-46C2-8E6F-4687674B1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1049FB-0AC7-42DD-9E84-007E365DF387}"/>
              </a:ext>
            </a:extLst>
          </p:cNvPr>
          <p:cNvSpPr>
            <a:spLocks noGrp="1"/>
          </p:cNvSpPr>
          <p:nvPr>
            <p:ph type="sldNum" sz="quarter" idx="12"/>
          </p:nvPr>
        </p:nvSpPr>
        <p:spPr/>
        <p:txBody>
          <a:bodyPr/>
          <a:lstStyle/>
          <a:p>
            <a:fld id="{32758921-EDF8-4173-BF91-611BD2588933}" type="slidenum">
              <a:rPr lang="en-US" smtClean="0"/>
              <a:t>‹#›</a:t>
            </a:fld>
            <a:endParaRPr lang="en-US"/>
          </a:p>
        </p:txBody>
      </p:sp>
    </p:spTree>
    <p:extLst>
      <p:ext uri="{BB962C8B-B14F-4D97-AF65-F5344CB8AC3E}">
        <p14:creationId xmlns:p14="http://schemas.microsoft.com/office/powerpoint/2010/main" val="2105957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A0D772-690D-491E-BFB6-EAA7D91F0E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958321-985A-427C-8058-F043CEC2E3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DE4E8F-D816-4829-8398-43E60CB82F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FCF83B-7E8A-40BF-ABA3-99D204EF2989}" type="datetimeFigureOut">
              <a:rPr lang="en-US" smtClean="0"/>
              <a:t>11/21/2025</a:t>
            </a:fld>
            <a:endParaRPr lang="en-US"/>
          </a:p>
        </p:txBody>
      </p:sp>
      <p:sp>
        <p:nvSpPr>
          <p:cNvPr id="5" name="Footer Placeholder 4">
            <a:extLst>
              <a:ext uri="{FF2B5EF4-FFF2-40B4-BE49-F238E27FC236}">
                <a16:creationId xmlns:a16="http://schemas.microsoft.com/office/drawing/2014/main" id="{E09AE7E1-FCDF-48AD-AB35-34B6CFC8DC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16AE966-740F-45AD-94AE-6650428A64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758921-EDF8-4173-BF91-611BD2588933}" type="slidenum">
              <a:rPr lang="en-US" smtClean="0"/>
              <a:t>‹#›</a:t>
            </a:fld>
            <a:endParaRPr lang="en-US"/>
          </a:p>
        </p:txBody>
      </p:sp>
      <p:sp>
        <p:nvSpPr>
          <p:cNvPr id="8" name="TextBox 7">
            <a:extLst>
              <a:ext uri="{FF2B5EF4-FFF2-40B4-BE49-F238E27FC236}">
                <a16:creationId xmlns:a16="http://schemas.microsoft.com/office/drawing/2014/main" id="{A39B151C-61F4-893E-1AE2-8918DF21BF74}"/>
              </a:ext>
            </a:extLst>
          </p:cNvPr>
          <p:cNvSpPr txBox="1"/>
          <p:nvPr userDrawn="1">
            <p:extLst>
              <p:ext uri="{1162E1C5-73C7-4A58-AE30-91384D911F3F}">
                <p184:classification xmlns:p184="http://schemas.microsoft.com/office/powerpoint/2018/4/main" val="ftr"/>
              </p:ext>
            </p:extLst>
          </p:nvPr>
        </p:nvSpPr>
        <p:spPr>
          <a:xfrm>
            <a:off x="5933250" y="6672580"/>
            <a:ext cx="347662" cy="121920"/>
          </a:xfrm>
          <a:prstGeom prst="rect">
            <a:avLst/>
          </a:prstGeom>
        </p:spPr>
        <p:txBody>
          <a:bodyPr horzOverflow="overflow" lIns="0" tIns="0" rIns="0" bIns="0">
            <a:spAutoFit/>
          </a:bodyPr>
          <a:lstStyle/>
          <a:p>
            <a:pPr algn="l"/>
            <a:r>
              <a:rPr lang="en-US" sz="8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502963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568CF-BADE-4EE8-A500-0B44F4282389}"/>
              </a:ext>
            </a:extLst>
          </p:cNvPr>
          <p:cNvSpPr>
            <a:spLocks noGrp="1"/>
          </p:cNvSpPr>
          <p:nvPr>
            <p:ph type="ctrTitle"/>
          </p:nvPr>
        </p:nvSpPr>
        <p:spPr/>
        <p:txBody>
          <a:bodyPr/>
          <a:lstStyle/>
          <a:p>
            <a:r>
              <a:rPr lang="en-US" dirty="0"/>
              <a:t>Kalman filter</a:t>
            </a:r>
          </a:p>
        </p:txBody>
      </p:sp>
      <p:sp>
        <p:nvSpPr>
          <p:cNvPr id="3" name="Subtitle 2">
            <a:extLst>
              <a:ext uri="{FF2B5EF4-FFF2-40B4-BE49-F238E27FC236}">
                <a16:creationId xmlns:a16="http://schemas.microsoft.com/office/drawing/2014/main" id="{A39B5D0E-53C7-4FAF-A23C-8511685711E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0586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6A317B-CC09-42FC-9867-390B58B2E6B5}"/>
              </a:ext>
            </a:extLst>
          </p:cNvPr>
          <p:cNvSpPr>
            <a:spLocks noGrp="1"/>
          </p:cNvSpPr>
          <p:nvPr>
            <p:ph idx="1"/>
          </p:nvPr>
        </p:nvSpPr>
        <p:spPr>
          <a:xfrm>
            <a:off x="838200" y="355107"/>
            <a:ext cx="10515600" cy="5921405"/>
          </a:xfrm>
        </p:spPr>
        <p:txBody>
          <a:bodyPr/>
          <a:lstStyle/>
          <a:p>
            <a:r>
              <a:rPr lang="en-US" b="0" i="0" dirty="0">
                <a:solidFill>
                  <a:srgbClr val="292929"/>
                </a:solidFill>
                <a:effectLst/>
                <a:latin typeface="charter"/>
              </a:rPr>
              <a:t>An autonomous vehicle consists of various device through which it collects data and perform an action . </a:t>
            </a:r>
          </a:p>
          <a:p>
            <a:r>
              <a:rPr lang="en-US" b="0" i="0" dirty="0">
                <a:solidFill>
                  <a:srgbClr val="292929"/>
                </a:solidFill>
                <a:effectLst/>
                <a:latin typeface="charter"/>
              </a:rPr>
              <a:t>Data used by the Kalman filter comes from </a:t>
            </a:r>
            <a:r>
              <a:rPr lang="en-US" b="1" i="0" dirty="0">
                <a:solidFill>
                  <a:srgbClr val="292929"/>
                </a:solidFill>
                <a:effectLst/>
                <a:latin typeface="charter"/>
              </a:rPr>
              <a:t>LIDAR</a:t>
            </a:r>
            <a:r>
              <a:rPr lang="en-US" b="0" i="0" dirty="0">
                <a:solidFill>
                  <a:srgbClr val="292929"/>
                </a:solidFill>
                <a:effectLst/>
                <a:latin typeface="charter"/>
              </a:rPr>
              <a:t> and </a:t>
            </a:r>
            <a:r>
              <a:rPr lang="en-US" b="1" i="0" dirty="0">
                <a:solidFill>
                  <a:srgbClr val="292929"/>
                </a:solidFill>
                <a:effectLst/>
                <a:latin typeface="charter"/>
              </a:rPr>
              <a:t>RADAR </a:t>
            </a:r>
            <a:r>
              <a:rPr lang="en-US" b="0" i="0" dirty="0">
                <a:solidFill>
                  <a:srgbClr val="292929"/>
                </a:solidFill>
                <a:effectLst/>
                <a:latin typeface="charter"/>
              </a:rPr>
              <a:t>. </a:t>
            </a:r>
          </a:p>
          <a:p>
            <a:r>
              <a:rPr lang="en-US" b="0" i="0" dirty="0">
                <a:solidFill>
                  <a:srgbClr val="292929"/>
                </a:solidFill>
                <a:effectLst/>
                <a:latin typeface="charter"/>
              </a:rPr>
              <a:t>We can use Kalman Filter to make an educated guess , about what the system is going to do next in any place where we have uncertain information about some dynamic system .</a:t>
            </a:r>
          </a:p>
          <a:p>
            <a:r>
              <a:rPr lang="en-US" b="0" i="0" dirty="0">
                <a:solidFill>
                  <a:srgbClr val="292929"/>
                </a:solidFill>
                <a:effectLst/>
                <a:latin typeface="charter"/>
              </a:rPr>
              <a:t> In case of Autonomous Vehicle Kalman Filter can be used to predict the next set of actions that the car in-front of our autonomous vehicle is going to take based upon the data our vehicle receives . </a:t>
            </a:r>
          </a:p>
          <a:p>
            <a:r>
              <a:rPr lang="en-US" b="0" i="0" dirty="0">
                <a:solidFill>
                  <a:srgbClr val="292929"/>
                </a:solidFill>
                <a:effectLst/>
                <a:latin typeface="charter"/>
              </a:rPr>
              <a:t>It is an iterative process that uses two step predict and update.</a:t>
            </a:r>
            <a:endParaRPr lang="en-US" dirty="0"/>
          </a:p>
        </p:txBody>
      </p:sp>
    </p:spTree>
    <p:extLst>
      <p:ext uri="{BB962C8B-B14F-4D97-AF65-F5344CB8AC3E}">
        <p14:creationId xmlns:p14="http://schemas.microsoft.com/office/powerpoint/2010/main" val="1509841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2F5060C-7263-4EC7-A8EB-78D4744438F4}"/>
              </a:ext>
            </a:extLst>
          </p:cNvPr>
          <p:cNvSpPr txBox="1">
            <a:spLocks/>
          </p:cNvSpPr>
          <p:nvPr/>
        </p:nvSpPr>
        <p:spPr>
          <a:xfrm>
            <a:off x="838200" y="346229"/>
            <a:ext cx="10515600" cy="58307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292929"/>
                </a:solidFill>
                <a:latin typeface="charter"/>
              </a:rPr>
              <a:t>It is mostly suitable for these type of operations because of the following factors :</a:t>
            </a:r>
          </a:p>
          <a:p>
            <a:pPr marL="514350" indent="-514350">
              <a:buFont typeface="+mj-lt"/>
              <a:buAutoNum type="arabicPeriod"/>
            </a:pPr>
            <a:r>
              <a:rPr lang="en-US" dirty="0">
                <a:solidFill>
                  <a:srgbClr val="292929"/>
                </a:solidFill>
                <a:latin typeface="charter"/>
              </a:rPr>
              <a:t>It predict the next state based on the previous state only ,</a:t>
            </a:r>
            <a:r>
              <a:rPr lang="en-US" b="1" dirty="0">
                <a:solidFill>
                  <a:srgbClr val="292929"/>
                </a:solidFill>
                <a:latin typeface="charter"/>
              </a:rPr>
              <a:t> no need of the history of data</a:t>
            </a:r>
          </a:p>
          <a:p>
            <a:pPr marL="514350" indent="-514350">
              <a:buFont typeface="+mj-lt"/>
              <a:buAutoNum type="arabicPeriod"/>
            </a:pPr>
            <a:r>
              <a:rPr lang="en-US" b="1" dirty="0">
                <a:solidFill>
                  <a:srgbClr val="292929"/>
                </a:solidFill>
                <a:latin typeface="charter"/>
              </a:rPr>
              <a:t>very fast</a:t>
            </a:r>
            <a:r>
              <a:rPr lang="en-US" dirty="0">
                <a:solidFill>
                  <a:srgbClr val="292929"/>
                </a:solidFill>
                <a:latin typeface="charter"/>
              </a:rPr>
              <a:t> making it well suitable for real time problems</a:t>
            </a:r>
            <a:r>
              <a:rPr lang="en-US" b="1" dirty="0">
                <a:solidFill>
                  <a:srgbClr val="292929"/>
                </a:solidFill>
                <a:latin typeface="charter"/>
              </a:rPr>
              <a:t>.</a:t>
            </a:r>
          </a:p>
          <a:p>
            <a:pPr marL="514350" indent="-514350">
              <a:buFont typeface="+mj-lt"/>
              <a:buAutoNum type="arabicPeriod"/>
            </a:pPr>
            <a:r>
              <a:rPr lang="en-US" dirty="0">
                <a:solidFill>
                  <a:srgbClr val="292929"/>
                </a:solidFill>
                <a:latin typeface="charter"/>
              </a:rPr>
              <a:t>Even if lots of noise/error/uncertainty occurs in the environment, Kalman filter will </a:t>
            </a:r>
            <a:r>
              <a:rPr lang="en-US" b="1" dirty="0">
                <a:solidFill>
                  <a:srgbClr val="292929"/>
                </a:solidFill>
                <a:latin typeface="charter"/>
              </a:rPr>
              <a:t>give a good result</a:t>
            </a:r>
          </a:p>
          <a:p>
            <a:pPr marL="0" indent="0">
              <a:buFont typeface="Arial" panose="020B0604020202020204" pitchFamily="34" charset="0"/>
              <a:buNone/>
            </a:pPr>
            <a:endParaRPr lang="en-US" dirty="0">
              <a:solidFill>
                <a:srgbClr val="292929"/>
              </a:solidFill>
              <a:latin typeface="charter"/>
            </a:endParaRPr>
          </a:p>
          <a:p>
            <a:pPr marL="0" indent="0">
              <a:buFont typeface="Arial" panose="020B0604020202020204" pitchFamily="34" charset="0"/>
              <a:buNone/>
            </a:pPr>
            <a:endParaRPr lang="en-US" dirty="0">
              <a:solidFill>
                <a:srgbClr val="292929"/>
              </a:solidFill>
              <a:latin typeface="charter"/>
            </a:endParaRPr>
          </a:p>
          <a:p>
            <a:endParaRPr lang="en-US" dirty="0">
              <a:solidFill>
                <a:srgbClr val="292929"/>
              </a:solidFill>
              <a:latin typeface="charter"/>
            </a:endParaRPr>
          </a:p>
        </p:txBody>
      </p:sp>
    </p:spTree>
    <p:extLst>
      <p:ext uri="{BB962C8B-B14F-4D97-AF65-F5344CB8AC3E}">
        <p14:creationId xmlns:p14="http://schemas.microsoft.com/office/powerpoint/2010/main" val="1790602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46D447-7C10-4416-B305-0A737974F1C3}"/>
              </a:ext>
            </a:extLst>
          </p:cNvPr>
          <p:cNvSpPr>
            <a:spLocks noGrp="1"/>
          </p:cNvSpPr>
          <p:nvPr>
            <p:ph idx="1"/>
          </p:nvPr>
        </p:nvSpPr>
        <p:spPr>
          <a:xfrm>
            <a:off x="838200" y="363984"/>
            <a:ext cx="10515600" cy="5812979"/>
          </a:xfrm>
        </p:spPr>
        <p:txBody>
          <a:bodyPr/>
          <a:lstStyle/>
          <a:p>
            <a:r>
              <a:rPr lang="en-US" b="0" i="0" dirty="0">
                <a:solidFill>
                  <a:srgbClr val="292929"/>
                </a:solidFill>
                <a:effectLst/>
                <a:latin typeface="charter"/>
              </a:rPr>
              <a:t>Kalman Filter is an iterative process that follows two step predict and update</a:t>
            </a:r>
          </a:p>
          <a:p>
            <a:pPr marL="0" indent="0">
              <a:buNone/>
            </a:pPr>
            <a:endParaRPr lang="en-US" dirty="0"/>
          </a:p>
        </p:txBody>
      </p:sp>
      <p:pic>
        <p:nvPicPr>
          <p:cNvPr id="4" name="Picture 3">
            <a:extLst>
              <a:ext uri="{FF2B5EF4-FFF2-40B4-BE49-F238E27FC236}">
                <a16:creationId xmlns:a16="http://schemas.microsoft.com/office/drawing/2014/main" id="{EAD16095-52F4-4C44-B240-8CB3F0F03B73}"/>
              </a:ext>
            </a:extLst>
          </p:cNvPr>
          <p:cNvPicPr>
            <a:picLocks noChangeAspect="1"/>
          </p:cNvPicPr>
          <p:nvPr/>
        </p:nvPicPr>
        <p:blipFill>
          <a:blip r:embed="rId2"/>
          <a:stretch>
            <a:fillRect/>
          </a:stretch>
        </p:blipFill>
        <p:spPr>
          <a:xfrm>
            <a:off x="2645546" y="1473199"/>
            <a:ext cx="6835805" cy="4421574"/>
          </a:xfrm>
          <a:prstGeom prst="rect">
            <a:avLst/>
          </a:prstGeom>
        </p:spPr>
      </p:pic>
    </p:spTree>
    <p:extLst>
      <p:ext uri="{BB962C8B-B14F-4D97-AF65-F5344CB8AC3E}">
        <p14:creationId xmlns:p14="http://schemas.microsoft.com/office/powerpoint/2010/main" val="906530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0DED62-7BBB-4AA0-88F0-C48500E06404}"/>
              </a:ext>
            </a:extLst>
          </p:cNvPr>
          <p:cNvSpPr>
            <a:spLocks noGrp="1"/>
          </p:cNvSpPr>
          <p:nvPr>
            <p:ph idx="1"/>
          </p:nvPr>
        </p:nvSpPr>
        <p:spPr>
          <a:xfrm>
            <a:off x="838200" y="275208"/>
            <a:ext cx="10515600" cy="5901755"/>
          </a:xfrm>
        </p:spPr>
        <p:txBody>
          <a:bodyPr/>
          <a:lstStyle/>
          <a:p>
            <a:pPr marL="0" indent="0" algn="l">
              <a:buNone/>
            </a:pPr>
            <a:r>
              <a:rPr lang="en-US" b="1" i="0" dirty="0">
                <a:solidFill>
                  <a:srgbClr val="292929"/>
                </a:solidFill>
                <a:effectLst/>
                <a:latin typeface="charter"/>
              </a:rPr>
              <a:t>Predict :</a:t>
            </a:r>
            <a:endParaRPr lang="en-US" b="0" i="0" dirty="0">
              <a:solidFill>
                <a:srgbClr val="292929"/>
              </a:solidFill>
              <a:effectLst/>
              <a:latin typeface="charter"/>
            </a:endParaRPr>
          </a:p>
          <a:p>
            <a:pPr algn="l"/>
            <a:r>
              <a:rPr lang="en-US" b="0" i="0" dirty="0">
                <a:solidFill>
                  <a:srgbClr val="292929"/>
                </a:solidFill>
                <a:effectLst/>
                <a:latin typeface="charter"/>
              </a:rPr>
              <a:t>In this step the Kalman Filter predict the new values from the initial value and then predict the uncertainity/error/variance in our prediction according to the various process noise present in the system.</a:t>
            </a:r>
          </a:p>
          <a:p>
            <a:pPr algn="l"/>
            <a:r>
              <a:rPr lang="en-US" b="0" i="0" dirty="0">
                <a:solidFill>
                  <a:srgbClr val="292929"/>
                </a:solidFill>
                <a:effectLst/>
                <a:latin typeface="charter"/>
              </a:rPr>
              <a:t>In autonomous vehicle process noise can be understood by taking a simple example of a car moving infront of our vehicle.</a:t>
            </a:r>
          </a:p>
          <a:p>
            <a:pPr algn="l"/>
            <a:r>
              <a:rPr lang="en-US" b="0" i="0" dirty="0">
                <a:solidFill>
                  <a:srgbClr val="292929"/>
                </a:solidFill>
                <a:effectLst/>
                <a:latin typeface="charter"/>
              </a:rPr>
              <a:t> Our model will assume the car to move with a constant velocity due to zero acceleration, but it will have acceleration i.e. its speed will fluctuate from time to time.</a:t>
            </a:r>
          </a:p>
          <a:p>
            <a:pPr algn="l"/>
            <a:r>
              <a:rPr lang="en-US" b="0" i="0" dirty="0">
                <a:solidFill>
                  <a:srgbClr val="292929"/>
                </a:solidFill>
                <a:effectLst/>
                <a:latin typeface="charter"/>
              </a:rPr>
              <a:t> This change in acceleration of that car is the uncertainity/error/variance and we introduce it to our system using process noise.</a:t>
            </a:r>
          </a:p>
          <a:p>
            <a:endParaRPr lang="en-US" dirty="0"/>
          </a:p>
        </p:txBody>
      </p:sp>
    </p:spTree>
    <p:extLst>
      <p:ext uri="{BB962C8B-B14F-4D97-AF65-F5344CB8AC3E}">
        <p14:creationId xmlns:p14="http://schemas.microsoft.com/office/powerpoint/2010/main" val="2005533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069D39-EB71-45BF-8841-53DA3B465AF0}"/>
              </a:ext>
            </a:extLst>
          </p:cNvPr>
          <p:cNvSpPr>
            <a:spLocks noGrp="1"/>
          </p:cNvSpPr>
          <p:nvPr>
            <p:ph idx="1"/>
          </p:nvPr>
        </p:nvSpPr>
        <p:spPr>
          <a:xfrm>
            <a:off x="838200" y="292963"/>
            <a:ext cx="10515600" cy="5884000"/>
          </a:xfrm>
        </p:spPr>
        <p:txBody>
          <a:bodyPr>
            <a:normAutofit lnSpcReduction="10000"/>
          </a:bodyPr>
          <a:lstStyle/>
          <a:p>
            <a:pPr marL="0" indent="0" algn="l">
              <a:buNone/>
            </a:pPr>
            <a:r>
              <a:rPr lang="en-US" b="1" i="0" dirty="0">
                <a:solidFill>
                  <a:srgbClr val="292929"/>
                </a:solidFill>
                <a:effectLst/>
                <a:latin typeface="charter"/>
              </a:rPr>
              <a:t>Update :</a:t>
            </a:r>
            <a:endParaRPr lang="en-US" b="0" i="0" dirty="0">
              <a:solidFill>
                <a:srgbClr val="292929"/>
              </a:solidFill>
              <a:effectLst/>
              <a:latin typeface="charter"/>
            </a:endParaRPr>
          </a:p>
          <a:p>
            <a:pPr algn="l"/>
            <a:r>
              <a:rPr lang="en-US" b="0" i="0" dirty="0">
                <a:solidFill>
                  <a:srgbClr val="292929"/>
                </a:solidFill>
                <a:effectLst/>
                <a:latin typeface="charter"/>
              </a:rPr>
              <a:t>In this step we take the </a:t>
            </a:r>
            <a:r>
              <a:rPr lang="en-US" b="1" i="0" dirty="0">
                <a:solidFill>
                  <a:srgbClr val="292929"/>
                </a:solidFill>
                <a:effectLst/>
                <a:latin typeface="charter"/>
              </a:rPr>
              <a:t>actual measured value</a:t>
            </a:r>
            <a:r>
              <a:rPr lang="en-US" b="0" i="0" dirty="0">
                <a:solidFill>
                  <a:srgbClr val="292929"/>
                </a:solidFill>
                <a:effectLst/>
                <a:latin typeface="charter"/>
              </a:rPr>
              <a:t> from the devices of the system .</a:t>
            </a:r>
          </a:p>
          <a:p>
            <a:pPr algn="l"/>
            <a:r>
              <a:rPr lang="en-US" b="0" i="0" dirty="0">
                <a:solidFill>
                  <a:srgbClr val="292929"/>
                </a:solidFill>
                <a:effectLst/>
                <a:latin typeface="charter"/>
              </a:rPr>
              <a:t> In case of autonomous vehicle these devices can be radar or Lidar .</a:t>
            </a:r>
          </a:p>
          <a:p>
            <a:pPr algn="l"/>
            <a:r>
              <a:rPr lang="en-US" b="0" i="0" dirty="0">
                <a:solidFill>
                  <a:srgbClr val="292929"/>
                </a:solidFill>
                <a:effectLst/>
                <a:latin typeface="charter"/>
              </a:rPr>
              <a:t>We then calculate the difference between the predicted value and the measured value and then decide which value to keep </a:t>
            </a:r>
            <a:r>
              <a:rPr lang="en-US" b="0" i="0" dirty="0" err="1">
                <a:solidFill>
                  <a:srgbClr val="292929"/>
                </a:solidFill>
                <a:effectLst/>
                <a:latin typeface="charter"/>
              </a:rPr>
              <a:t>i.e</a:t>
            </a:r>
            <a:r>
              <a:rPr lang="en-US" b="0" i="0" dirty="0">
                <a:solidFill>
                  <a:srgbClr val="292929"/>
                </a:solidFill>
                <a:effectLst/>
                <a:latin typeface="charter"/>
              </a:rPr>
              <a:t> predicted value or measured value by calculating the</a:t>
            </a:r>
            <a:r>
              <a:rPr lang="en-US" b="1" i="0" dirty="0">
                <a:solidFill>
                  <a:srgbClr val="292929"/>
                </a:solidFill>
                <a:effectLst/>
                <a:latin typeface="charter"/>
              </a:rPr>
              <a:t> Kalman Gain. </a:t>
            </a:r>
          </a:p>
          <a:p>
            <a:pPr algn="l"/>
            <a:r>
              <a:rPr lang="en-US" b="0" i="0" dirty="0">
                <a:solidFill>
                  <a:srgbClr val="292929"/>
                </a:solidFill>
                <a:effectLst/>
                <a:latin typeface="charter"/>
              </a:rPr>
              <a:t>Based upon the decision made by the</a:t>
            </a:r>
            <a:r>
              <a:rPr lang="en-US" b="1" i="0" dirty="0">
                <a:solidFill>
                  <a:srgbClr val="292929"/>
                </a:solidFill>
                <a:effectLst/>
                <a:latin typeface="charter"/>
              </a:rPr>
              <a:t> </a:t>
            </a:r>
            <a:r>
              <a:rPr lang="en-US" b="0" i="0" dirty="0" err="1">
                <a:solidFill>
                  <a:srgbClr val="292929"/>
                </a:solidFill>
                <a:effectLst/>
                <a:latin typeface="charter"/>
              </a:rPr>
              <a:t>kalman</a:t>
            </a:r>
            <a:r>
              <a:rPr lang="en-US" b="0" i="0" dirty="0">
                <a:solidFill>
                  <a:srgbClr val="292929"/>
                </a:solidFill>
                <a:effectLst/>
                <a:latin typeface="charter"/>
              </a:rPr>
              <a:t> gain we calculate the new value and new uncertainty/error/variance .</a:t>
            </a:r>
          </a:p>
          <a:p>
            <a:pPr algn="l"/>
            <a:r>
              <a:rPr lang="en-US" b="0" i="0" dirty="0">
                <a:solidFill>
                  <a:srgbClr val="292929"/>
                </a:solidFill>
                <a:effectLst/>
                <a:latin typeface="charter"/>
              </a:rPr>
              <a:t>This output from the update step is again fed back to the prediction step and the process continues till the difference between the predicted value and the measured value tend to convert to zero.</a:t>
            </a:r>
          </a:p>
          <a:p>
            <a:pPr algn="l"/>
            <a:r>
              <a:rPr lang="en-US" b="0" i="0" dirty="0">
                <a:solidFill>
                  <a:srgbClr val="292929"/>
                </a:solidFill>
                <a:effectLst/>
                <a:latin typeface="charter"/>
              </a:rPr>
              <a:t>This calculated value will be the prediction/educated guess done by the Kalman Filter.</a:t>
            </a:r>
          </a:p>
          <a:p>
            <a:endParaRPr lang="en-US" dirty="0"/>
          </a:p>
        </p:txBody>
      </p:sp>
    </p:spTree>
    <p:extLst>
      <p:ext uri="{BB962C8B-B14F-4D97-AF65-F5344CB8AC3E}">
        <p14:creationId xmlns:p14="http://schemas.microsoft.com/office/powerpoint/2010/main" val="3401227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3C41EC-A2A2-48DB-87FA-3A2667F58B09}"/>
              </a:ext>
            </a:extLst>
          </p:cNvPr>
          <p:cNvSpPr>
            <a:spLocks noGrp="1"/>
          </p:cNvSpPr>
          <p:nvPr>
            <p:ph idx="1"/>
          </p:nvPr>
        </p:nvSpPr>
        <p:spPr>
          <a:xfrm>
            <a:off x="838200" y="310718"/>
            <a:ext cx="10515600" cy="5866245"/>
          </a:xfrm>
        </p:spPr>
        <p:txBody>
          <a:bodyPr/>
          <a:lstStyle/>
          <a:p>
            <a:pPr marL="0" indent="0" algn="l">
              <a:buNone/>
            </a:pPr>
            <a:r>
              <a:rPr lang="en-US" b="1" i="1" dirty="0">
                <a:solidFill>
                  <a:srgbClr val="292929"/>
                </a:solidFill>
                <a:effectLst/>
                <a:latin typeface="charter"/>
              </a:rPr>
              <a:t>Kalman Gain :</a:t>
            </a:r>
          </a:p>
          <a:p>
            <a:pPr algn="l"/>
            <a:r>
              <a:rPr lang="en-US" b="0" i="1" dirty="0">
                <a:solidFill>
                  <a:srgbClr val="292929"/>
                </a:solidFill>
                <a:effectLst/>
                <a:latin typeface="charter"/>
              </a:rPr>
              <a:t> It determines whether our predicted or measured value is close to the actual value . Its value ranges from 0 to 1 . </a:t>
            </a:r>
          </a:p>
          <a:p>
            <a:pPr algn="l"/>
            <a:r>
              <a:rPr lang="en-US" b="0" i="1" dirty="0">
                <a:solidFill>
                  <a:srgbClr val="292929"/>
                </a:solidFill>
                <a:effectLst/>
                <a:latin typeface="charter"/>
              </a:rPr>
              <a:t>If its value is near to 0 then it means predicted value is close to the actual value or if the value is near to 1 then it means final measured value is close to the actual value. Its value ranges from 0 to 1 because it uses the uncertainity/errors in the predicted and the measured value and is represented by the simple formula as show below.</a:t>
            </a:r>
            <a:endParaRPr lang="en-US" b="0" i="0" dirty="0">
              <a:solidFill>
                <a:srgbClr val="292929"/>
              </a:solidFill>
              <a:effectLst/>
              <a:latin typeface="charter"/>
            </a:endParaRPr>
          </a:p>
          <a:p>
            <a:pPr marL="0" indent="0" algn="l">
              <a:buNone/>
            </a:pPr>
            <a:r>
              <a:rPr lang="en-US" b="1" i="0" dirty="0">
                <a:solidFill>
                  <a:srgbClr val="292929"/>
                </a:solidFill>
                <a:effectLst/>
                <a:latin typeface="charter"/>
              </a:rPr>
              <a:t>K = Error In Prediction / (Error in Prediction + Error in Measurement)</a:t>
            </a:r>
            <a:endParaRPr lang="en-US" b="0" i="0" dirty="0">
              <a:solidFill>
                <a:srgbClr val="292929"/>
              </a:solidFill>
              <a:effectLst/>
              <a:latin typeface="charter"/>
            </a:endParaRPr>
          </a:p>
          <a:p>
            <a:pPr marL="0" indent="0">
              <a:buNone/>
            </a:pPr>
            <a:endParaRPr lang="en-US" dirty="0"/>
          </a:p>
        </p:txBody>
      </p:sp>
    </p:spTree>
    <p:extLst>
      <p:ext uri="{BB962C8B-B14F-4D97-AF65-F5344CB8AC3E}">
        <p14:creationId xmlns:p14="http://schemas.microsoft.com/office/powerpoint/2010/main" val="1382962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86E92D-84AB-4598-8D16-FE604E2246D9}"/>
              </a:ext>
            </a:extLst>
          </p:cNvPr>
          <p:cNvSpPr>
            <a:spLocks noGrp="1"/>
          </p:cNvSpPr>
          <p:nvPr>
            <p:ph idx="1"/>
          </p:nvPr>
        </p:nvSpPr>
        <p:spPr>
          <a:xfrm>
            <a:off x="838200" y="355107"/>
            <a:ext cx="10515600" cy="5821856"/>
          </a:xfrm>
        </p:spPr>
        <p:txBody>
          <a:bodyPr/>
          <a:lstStyle/>
          <a:p>
            <a:pPr marL="0" indent="0">
              <a:buNone/>
            </a:pPr>
            <a:r>
              <a:rPr lang="en-US" sz="2800" b="1" i="0" dirty="0">
                <a:effectLst/>
                <a:latin typeface="sohne"/>
              </a:rPr>
              <a:t>Implementation of Kalman Filter in Self Driving Car</a:t>
            </a:r>
          </a:p>
          <a:p>
            <a:pPr marL="0" indent="0">
              <a:buNone/>
            </a:pPr>
            <a:r>
              <a:rPr lang="en-US" sz="2800" b="0" i="0" dirty="0">
                <a:effectLst/>
                <a:latin typeface="charter"/>
              </a:rPr>
              <a:t>Lets assume a 2D environment in which we have a car and a pedestrian moving by as shown below:</a:t>
            </a:r>
          </a:p>
          <a:p>
            <a:pPr marL="0" indent="0">
              <a:buNone/>
            </a:pPr>
            <a:endParaRPr lang="en-US" sz="2800" b="0" i="0" dirty="0">
              <a:effectLst/>
              <a:latin typeface="charter"/>
            </a:endParaRPr>
          </a:p>
        </p:txBody>
      </p:sp>
      <p:pic>
        <p:nvPicPr>
          <p:cNvPr id="5" name="Picture 4" descr="A picture containing graphical user interface&#10;&#10;Description automatically generated">
            <a:extLst>
              <a:ext uri="{FF2B5EF4-FFF2-40B4-BE49-F238E27FC236}">
                <a16:creationId xmlns:a16="http://schemas.microsoft.com/office/drawing/2014/main" id="{AFFD962F-BA3A-4503-96E2-7EDE9648E9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8812" y="1822367"/>
            <a:ext cx="6640497" cy="4354596"/>
          </a:xfrm>
          <a:prstGeom prst="rect">
            <a:avLst/>
          </a:prstGeom>
        </p:spPr>
      </p:pic>
    </p:spTree>
    <p:extLst>
      <p:ext uri="{BB962C8B-B14F-4D97-AF65-F5344CB8AC3E}">
        <p14:creationId xmlns:p14="http://schemas.microsoft.com/office/powerpoint/2010/main" val="3975791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3FB1F6-CF71-488C-BBCC-FB923C66934A}"/>
              </a:ext>
            </a:extLst>
          </p:cNvPr>
          <p:cNvSpPr>
            <a:spLocks noGrp="1"/>
          </p:cNvSpPr>
          <p:nvPr>
            <p:ph idx="1"/>
          </p:nvPr>
        </p:nvSpPr>
        <p:spPr>
          <a:xfrm>
            <a:off x="838200" y="355107"/>
            <a:ext cx="10515600" cy="5821856"/>
          </a:xfrm>
        </p:spPr>
        <p:txBody>
          <a:bodyPr/>
          <a:lstStyle/>
          <a:p>
            <a:pPr algn="l"/>
            <a:r>
              <a:rPr lang="en-US" b="0" i="0" dirty="0" err="1">
                <a:solidFill>
                  <a:srgbClr val="292929"/>
                </a:solidFill>
                <a:effectLst/>
                <a:latin typeface="charter"/>
              </a:rPr>
              <a:t>p_x</a:t>
            </a:r>
            <a:r>
              <a:rPr lang="en-US" b="0" i="0" dirty="0">
                <a:solidFill>
                  <a:srgbClr val="292929"/>
                </a:solidFill>
                <a:effectLst/>
                <a:latin typeface="charter"/>
              </a:rPr>
              <a:t> and p_y determine the 2D position and </a:t>
            </a:r>
            <a:r>
              <a:rPr lang="en-US" b="0" i="0" dirty="0" err="1">
                <a:solidFill>
                  <a:srgbClr val="292929"/>
                </a:solidFill>
                <a:effectLst/>
                <a:latin typeface="charter"/>
              </a:rPr>
              <a:t>v_x</a:t>
            </a:r>
            <a:r>
              <a:rPr lang="en-US" b="0" i="0" dirty="0">
                <a:solidFill>
                  <a:srgbClr val="292929"/>
                </a:solidFill>
                <a:effectLst/>
                <a:latin typeface="charter"/>
              </a:rPr>
              <a:t> and v_y determine the 2D velocity of the pedestrian . </a:t>
            </a:r>
          </a:p>
          <a:p>
            <a:pPr algn="l"/>
            <a:r>
              <a:rPr lang="en-US" b="0" i="0" dirty="0">
                <a:solidFill>
                  <a:srgbClr val="292929"/>
                </a:solidFill>
                <a:effectLst/>
                <a:latin typeface="charter"/>
              </a:rPr>
              <a:t>This can be represented as </a:t>
            </a:r>
            <a:r>
              <a:rPr lang="en-US" b="1" i="0" dirty="0">
                <a:solidFill>
                  <a:srgbClr val="292929"/>
                </a:solidFill>
                <a:effectLst/>
                <a:latin typeface="charter"/>
              </a:rPr>
              <a:t>x = (p_x,p_y,v_x,v_y)</a:t>
            </a:r>
            <a:r>
              <a:rPr lang="en-US" b="0" i="0" dirty="0">
                <a:solidFill>
                  <a:srgbClr val="292929"/>
                </a:solidFill>
                <a:effectLst/>
                <a:latin typeface="charter"/>
              </a:rPr>
              <a:t>. We have to predict the 2D position(p_x′,p_y’) and 2D velocity (</a:t>
            </a:r>
            <a:r>
              <a:rPr lang="en-US" b="0" i="0" dirty="0" err="1">
                <a:solidFill>
                  <a:srgbClr val="292929"/>
                </a:solidFill>
                <a:effectLst/>
                <a:latin typeface="charter"/>
              </a:rPr>
              <a:t>v_x′,v_y</a:t>
            </a:r>
            <a:r>
              <a:rPr lang="en-US" b="0" i="0" dirty="0">
                <a:solidFill>
                  <a:srgbClr val="292929"/>
                </a:solidFill>
                <a:effectLst/>
                <a:latin typeface="charter"/>
              </a:rPr>
              <a:t>′)</a:t>
            </a:r>
            <a:r>
              <a:rPr lang="en-US" b="1" i="0" dirty="0">
                <a:solidFill>
                  <a:srgbClr val="292929"/>
                </a:solidFill>
                <a:effectLst/>
                <a:latin typeface="charter"/>
              </a:rPr>
              <a:t> </a:t>
            </a:r>
            <a:r>
              <a:rPr lang="en-US" b="0" i="0" dirty="0">
                <a:solidFill>
                  <a:srgbClr val="292929"/>
                </a:solidFill>
                <a:effectLst/>
                <a:latin typeface="charter"/>
              </a:rPr>
              <a:t>of the pedestrian i.e x′</a:t>
            </a:r>
          </a:p>
          <a:p>
            <a:pPr algn="l"/>
            <a:r>
              <a:rPr lang="en-US" b="0" i="0" dirty="0">
                <a:solidFill>
                  <a:srgbClr val="292929"/>
                </a:solidFill>
                <a:effectLst/>
                <a:latin typeface="charter"/>
              </a:rPr>
              <a:t>Since the state vector only models the position and velocity we need to also have the uncertainity/noise so as to model the acceleration, this is done by the process covariance matrix </a:t>
            </a:r>
            <a:r>
              <a:rPr lang="en-US" b="1" i="0" dirty="0">
                <a:solidFill>
                  <a:srgbClr val="292929"/>
                </a:solidFill>
                <a:effectLst/>
                <a:latin typeface="charter"/>
              </a:rPr>
              <a:t>P.</a:t>
            </a:r>
          </a:p>
          <a:p>
            <a:pPr marL="0" indent="0" algn="l">
              <a:buNone/>
            </a:pPr>
            <a:endParaRPr lang="en-US" b="1" i="0" dirty="0">
              <a:solidFill>
                <a:srgbClr val="292929"/>
              </a:solidFill>
              <a:effectLst/>
              <a:latin typeface="charter"/>
            </a:endParaRPr>
          </a:p>
          <a:p>
            <a:pPr marL="0" indent="0" algn="l">
              <a:buNone/>
            </a:pPr>
            <a:endParaRPr lang="en-US" b="0" i="0" dirty="0">
              <a:solidFill>
                <a:srgbClr val="292929"/>
              </a:solidFill>
              <a:effectLst/>
              <a:latin typeface="charter"/>
            </a:endParaRPr>
          </a:p>
          <a:p>
            <a:endParaRPr lang="en-US" dirty="0"/>
          </a:p>
        </p:txBody>
      </p:sp>
    </p:spTree>
    <p:extLst>
      <p:ext uri="{BB962C8B-B14F-4D97-AF65-F5344CB8AC3E}">
        <p14:creationId xmlns:p14="http://schemas.microsoft.com/office/powerpoint/2010/main" val="1627962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C674C0-806E-49AB-9316-3CF58DDF3A20}"/>
              </a:ext>
            </a:extLst>
          </p:cNvPr>
          <p:cNvSpPr>
            <a:spLocks noGrp="1"/>
          </p:cNvSpPr>
          <p:nvPr>
            <p:ph idx="1"/>
          </p:nvPr>
        </p:nvSpPr>
        <p:spPr>
          <a:xfrm>
            <a:off x="838200" y="319596"/>
            <a:ext cx="10515600" cy="5857367"/>
          </a:xfrm>
        </p:spPr>
        <p:txBody>
          <a:bodyPr>
            <a:normAutofit lnSpcReduction="10000"/>
          </a:bodyPr>
          <a:lstStyle/>
          <a:p>
            <a:pPr marL="0" indent="0">
              <a:buNone/>
            </a:pPr>
            <a:r>
              <a:rPr lang="en-US" b="1" i="0" dirty="0">
                <a:solidFill>
                  <a:srgbClr val="292929"/>
                </a:solidFill>
                <a:effectLst/>
                <a:latin typeface="charter"/>
              </a:rPr>
              <a:t>Prediction step</a:t>
            </a:r>
            <a:r>
              <a:rPr lang="en-US" b="0" i="0" dirty="0">
                <a:solidFill>
                  <a:srgbClr val="292929"/>
                </a:solidFill>
                <a:effectLst/>
                <a:latin typeface="charter"/>
              </a:rPr>
              <a:t> :</a:t>
            </a:r>
          </a:p>
          <a:p>
            <a:r>
              <a:rPr lang="en-US" b="0" i="0" dirty="0">
                <a:solidFill>
                  <a:srgbClr val="292929"/>
                </a:solidFill>
                <a:effectLst/>
                <a:latin typeface="charter"/>
              </a:rPr>
              <a:t>calculates the predicted value </a:t>
            </a:r>
            <a:r>
              <a:rPr lang="en-US" b="1" i="0" dirty="0">
                <a:solidFill>
                  <a:srgbClr val="292929"/>
                </a:solidFill>
                <a:effectLst/>
                <a:latin typeface="charter"/>
              </a:rPr>
              <a:t>x′</a:t>
            </a:r>
            <a:r>
              <a:rPr lang="en-US" b="0" i="0" dirty="0">
                <a:solidFill>
                  <a:srgbClr val="292929"/>
                </a:solidFill>
                <a:effectLst/>
                <a:latin typeface="charter"/>
              </a:rPr>
              <a:t> and predicted error </a:t>
            </a:r>
            <a:r>
              <a:rPr lang="en-US" b="1" i="0" dirty="0">
                <a:solidFill>
                  <a:srgbClr val="292929"/>
                </a:solidFill>
                <a:effectLst/>
                <a:latin typeface="charter"/>
              </a:rPr>
              <a:t>P′</a:t>
            </a:r>
            <a:r>
              <a:rPr lang="en-US" b="0" i="0" dirty="0">
                <a:solidFill>
                  <a:srgbClr val="292929"/>
                </a:solidFill>
                <a:effectLst/>
                <a:latin typeface="charter"/>
              </a:rPr>
              <a:t> also know as Process Covariance Matrix by using the following formula:</a:t>
            </a:r>
          </a:p>
          <a:p>
            <a:pPr marL="0" indent="0">
              <a:buNone/>
            </a:pPr>
            <a:r>
              <a:rPr lang="en-US" b="0" i="0" dirty="0">
                <a:solidFill>
                  <a:srgbClr val="292929"/>
                </a:solidFill>
                <a:effectLst/>
                <a:latin typeface="charter"/>
              </a:rPr>
              <a:t>                                   x′ = </a:t>
            </a:r>
            <a:r>
              <a:rPr lang="en-US" b="0" i="0" dirty="0" err="1">
                <a:solidFill>
                  <a:srgbClr val="292929"/>
                </a:solidFill>
                <a:effectLst/>
                <a:latin typeface="charter"/>
              </a:rPr>
              <a:t>F.x</a:t>
            </a:r>
            <a:r>
              <a:rPr lang="en-US" b="0" i="0" dirty="0">
                <a:solidFill>
                  <a:srgbClr val="292929"/>
                </a:solidFill>
                <a:effectLst/>
                <a:latin typeface="charter"/>
              </a:rPr>
              <a:t> + </a:t>
            </a:r>
            <a:r>
              <a:rPr lang="en-US" b="0" i="0" dirty="0" err="1">
                <a:solidFill>
                  <a:srgbClr val="292929"/>
                </a:solidFill>
                <a:effectLst/>
                <a:latin typeface="charter"/>
              </a:rPr>
              <a:t>B.μ</a:t>
            </a:r>
            <a:r>
              <a:rPr lang="en-US" b="0" i="0" dirty="0">
                <a:solidFill>
                  <a:srgbClr val="292929"/>
                </a:solidFill>
                <a:effectLst/>
                <a:latin typeface="charter"/>
              </a:rPr>
              <a:t> + ν</a:t>
            </a:r>
          </a:p>
          <a:p>
            <a:pPr marL="0" indent="0">
              <a:buNone/>
            </a:pPr>
            <a:r>
              <a:rPr lang="en-US" b="0" i="0" dirty="0">
                <a:solidFill>
                  <a:srgbClr val="292929"/>
                </a:solidFill>
                <a:effectLst/>
                <a:latin typeface="charter"/>
              </a:rPr>
              <a:t>                                   P′ = FPFᵀ + Q</a:t>
            </a:r>
          </a:p>
          <a:p>
            <a:pPr marL="0" indent="0">
              <a:buNone/>
            </a:pPr>
            <a:r>
              <a:rPr lang="en-US" b="0" i="0" dirty="0">
                <a:solidFill>
                  <a:srgbClr val="292929"/>
                </a:solidFill>
                <a:effectLst/>
                <a:latin typeface="charter"/>
              </a:rPr>
              <a:t>F : State Transition Matrix</a:t>
            </a:r>
          </a:p>
          <a:p>
            <a:pPr marL="0" indent="0">
              <a:buNone/>
            </a:pPr>
            <a:r>
              <a:rPr lang="en-US" b="0" i="0" dirty="0">
                <a:solidFill>
                  <a:srgbClr val="292929"/>
                </a:solidFill>
                <a:effectLst/>
                <a:latin typeface="charter"/>
              </a:rPr>
              <a:t>         It is used to transform the state vector matrix from one form to another . i.e suppose the state of a vehicle is given by position p and velocity v and is not accelerating at time t.</a:t>
            </a:r>
          </a:p>
          <a:p>
            <a:pPr marL="0" indent="0" algn="l">
              <a:buNone/>
            </a:pPr>
            <a:r>
              <a:rPr lang="en-US" b="0" i="0" dirty="0">
                <a:solidFill>
                  <a:srgbClr val="292929"/>
                </a:solidFill>
                <a:effectLst/>
                <a:latin typeface="charter"/>
              </a:rPr>
              <a:t>                                   X = [p , v]</a:t>
            </a:r>
          </a:p>
          <a:p>
            <a:pPr marL="0" indent="0" algn="l">
              <a:buNone/>
            </a:pPr>
            <a:r>
              <a:rPr lang="en-US" b="0" i="0" dirty="0">
                <a:solidFill>
                  <a:srgbClr val="292929"/>
                </a:solidFill>
                <a:effectLst/>
                <a:latin typeface="charter"/>
              </a:rPr>
              <a:t>After a time particular time say t+1 the new state vector X’ will be</a:t>
            </a:r>
          </a:p>
          <a:p>
            <a:pPr marL="0" indent="0" algn="l">
              <a:buNone/>
            </a:pPr>
            <a:r>
              <a:rPr lang="en-US" b="0" i="0" dirty="0">
                <a:solidFill>
                  <a:srgbClr val="292929"/>
                </a:solidFill>
                <a:effectLst/>
                <a:latin typeface="charter"/>
              </a:rPr>
              <a:t>                                   p’ = </a:t>
            </a:r>
            <a:r>
              <a:rPr lang="en-US" b="0" i="0" dirty="0" err="1">
                <a:solidFill>
                  <a:srgbClr val="292929"/>
                </a:solidFill>
                <a:effectLst/>
                <a:latin typeface="charter"/>
              </a:rPr>
              <a:t>p+v</a:t>
            </a:r>
            <a:r>
              <a:rPr lang="en-US" b="0" i="0" dirty="0">
                <a:solidFill>
                  <a:srgbClr val="292929"/>
                </a:solidFill>
                <a:effectLst/>
                <a:latin typeface="charter"/>
              </a:rPr>
              <a:t>*</a:t>
            </a:r>
            <a:r>
              <a:rPr lang="en-US" b="0" i="0" dirty="0" err="1">
                <a:solidFill>
                  <a:srgbClr val="292929"/>
                </a:solidFill>
                <a:effectLst/>
                <a:latin typeface="charter"/>
              </a:rPr>
              <a:t>Δt</a:t>
            </a:r>
            <a:endParaRPr lang="en-US" b="0" i="0" dirty="0">
              <a:solidFill>
                <a:srgbClr val="292929"/>
              </a:solidFill>
              <a:effectLst/>
              <a:latin typeface="charter"/>
            </a:endParaRPr>
          </a:p>
          <a:p>
            <a:pPr marL="0" indent="0" algn="l">
              <a:buNone/>
            </a:pPr>
            <a:r>
              <a:rPr lang="en-US" b="0" i="0" dirty="0">
                <a:solidFill>
                  <a:srgbClr val="292929"/>
                </a:solidFill>
                <a:effectLst/>
                <a:latin typeface="charter"/>
              </a:rPr>
              <a:t>                                   v’=v</a:t>
            </a:r>
          </a:p>
          <a:p>
            <a:pPr marL="0" indent="0">
              <a:buNone/>
            </a:pPr>
            <a:endParaRPr lang="en-US" b="0" i="0" dirty="0">
              <a:solidFill>
                <a:srgbClr val="292929"/>
              </a:solidFill>
              <a:effectLst/>
              <a:latin typeface="charter"/>
            </a:endParaRPr>
          </a:p>
          <a:p>
            <a:pPr marL="0" indent="0">
              <a:buNone/>
            </a:pPr>
            <a:endParaRPr lang="en-US" dirty="0"/>
          </a:p>
        </p:txBody>
      </p:sp>
    </p:spTree>
    <p:extLst>
      <p:ext uri="{BB962C8B-B14F-4D97-AF65-F5344CB8AC3E}">
        <p14:creationId xmlns:p14="http://schemas.microsoft.com/office/powerpoint/2010/main" val="3177294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A73696C-A2E9-492F-B05E-EB7FA8AF611F}"/>
              </a:ext>
            </a:extLst>
          </p:cNvPr>
          <p:cNvSpPr>
            <a:spLocks noGrp="1"/>
          </p:cNvSpPr>
          <p:nvPr>
            <p:ph idx="1"/>
          </p:nvPr>
        </p:nvSpPr>
        <p:spPr>
          <a:xfrm>
            <a:off x="838200" y="310718"/>
            <a:ext cx="10515600" cy="5866245"/>
          </a:xfrm>
        </p:spPr>
        <p:txBody>
          <a:bodyPr>
            <a:normAutofit fontScale="92500" lnSpcReduction="10000"/>
          </a:bodyPr>
          <a:lstStyle/>
          <a:p>
            <a:r>
              <a:rPr lang="en-US" dirty="0"/>
              <a:t>in matrix this can be shown as below:</a:t>
            </a:r>
          </a:p>
          <a:p>
            <a:pPr marL="0" indent="0">
              <a:buNone/>
            </a:pPr>
            <a:endParaRPr lang="en-US" dirty="0"/>
          </a:p>
          <a:p>
            <a:pPr marL="0" indent="0">
              <a:buNone/>
            </a:pPr>
            <a:endParaRPr lang="en-US" dirty="0"/>
          </a:p>
          <a:p>
            <a:pPr marL="0" indent="0">
              <a:buNone/>
            </a:pPr>
            <a:endParaRPr lang="en-US" dirty="0"/>
          </a:p>
          <a:p>
            <a:r>
              <a:rPr lang="en-US" dirty="0"/>
              <a:t>then the F matrix will be given by:</a:t>
            </a:r>
          </a:p>
          <a:p>
            <a:pPr marL="0" indent="0">
              <a:buNone/>
            </a:pPr>
            <a:endParaRPr lang="en-US" dirty="0"/>
          </a:p>
          <a:p>
            <a:pPr marL="0" indent="0">
              <a:buNone/>
            </a:pPr>
            <a:endParaRPr lang="en-US" dirty="0"/>
          </a:p>
          <a:p>
            <a:pPr marL="0" indent="0">
              <a:buNone/>
            </a:pPr>
            <a:endParaRPr lang="en-US" dirty="0"/>
          </a:p>
          <a:p>
            <a:pPr marL="0" indent="0" algn="l">
              <a:buNone/>
            </a:pPr>
            <a:r>
              <a:rPr lang="en-US" b="1" i="0" dirty="0">
                <a:solidFill>
                  <a:srgbClr val="292929"/>
                </a:solidFill>
                <a:effectLst/>
                <a:latin typeface="charter"/>
              </a:rPr>
              <a:t>B:</a:t>
            </a:r>
            <a:r>
              <a:rPr lang="en-US" b="0" i="0" dirty="0">
                <a:solidFill>
                  <a:srgbClr val="292929"/>
                </a:solidFill>
                <a:effectLst/>
                <a:latin typeface="charter"/>
              </a:rPr>
              <a:t> Control input Matrix</a:t>
            </a:r>
          </a:p>
          <a:p>
            <a:pPr algn="l"/>
            <a:r>
              <a:rPr lang="en-US" b="0" i="0" dirty="0">
                <a:solidFill>
                  <a:srgbClr val="292929"/>
                </a:solidFill>
                <a:effectLst/>
                <a:latin typeface="charter"/>
              </a:rPr>
              <a:t>It determines the change in the control input vector </a:t>
            </a:r>
            <a:r>
              <a:rPr lang="en-US" b="1" i="0" dirty="0">
                <a:solidFill>
                  <a:srgbClr val="292929"/>
                </a:solidFill>
                <a:effectLst/>
                <a:latin typeface="charter"/>
              </a:rPr>
              <a:t>μ </a:t>
            </a:r>
            <a:r>
              <a:rPr lang="en-US" b="0" i="0" dirty="0">
                <a:solidFill>
                  <a:srgbClr val="292929"/>
                </a:solidFill>
                <a:effectLst/>
                <a:latin typeface="charter"/>
              </a:rPr>
              <a:t>due to external force(</a:t>
            </a:r>
            <a:r>
              <a:rPr lang="en-US" b="0" i="0" dirty="0" err="1">
                <a:solidFill>
                  <a:srgbClr val="292929"/>
                </a:solidFill>
                <a:effectLst/>
                <a:latin typeface="charter"/>
              </a:rPr>
              <a:t>longitudnal</a:t>
            </a:r>
            <a:r>
              <a:rPr lang="en-US" b="0" i="0" dirty="0">
                <a:solidFill>
                  <a:srgbClr val="292929"/>
                </a:solidFill>
                <a:effectLst/>
                <a:latin typeface="charter"/>
              </a:rPr>
              <a:t> or latitudinal force) and internal force(</a:t>
            </a:r>
            <a:r>
              <a:rPr lang="en-US" b="0" i="0" dirty="0" err="1">
                <a:solidFill>
                  <a:srgbClr val="292929"/>
                </a:solidFill>
                <a:effectLst/>
                <a:latin typeface="charter"/>
              </a:rPr>
              <a:t>gravity,friction</a:t>
            </a:r>
            <a:r>
              <a:rPr lang="en-US" b="0" i="0" dirty="0">
                <a:solidFill>
                  <a:srgbClr val="292929"/>
                </a:solidFill>
                <a:effectLst/>
                <a:latin typeface="charter"/>
              </a:rPr>
              <a:t> etc.). In context to autonomous vehicle we cannot model the external forces as it varies from one region to region and internal forces as it varies from one model of the car to another. So mostly </a:t>
            </a:r>
            <a:r>
              <a:rPr lang="en-US" b="1" i="0" dirty="0" err="1">
                <a:solidFill>
                  <a:srgbClr val="292929"/>
                </a:solidFill>
                <a:effectLst/>
                <a:latin typeface="charter"/>
              </a:rPr>
              <a:t>B.μ</a:t>
            </a:r>
            <a:r>
              <a:rPr lang="en-US" b="1" i="0" dirty="0">
                <a:solidFill>
                  <a:srgbClr val="292929"/>
                </a:solidFill>
                <a:effectLst/>
                <a:latin typeface="charter"/>
              </a:rPr>
              <a:t>=0 .</a:t>
            </a:r>
            <a:endParaRPr lang="en-US" b="0" i="0" dirty="0">
              <a:solidFill>
                <a:srgbClr val="292929"/>
              </a:solidFill>
              <a:effectLst/>
              <a:latin typeface="charter"/>
            </a:endParaRPr>
          </a:p>
          <a:p>
            <a:pPr marL="0" indent="0">
              <a:buNone/>
            </a:pPr>
            <a:endParaRPr lang="en-US" dirty="0"/>
          </a:p>
        </p:txBody>
      </p:sp>
      <p:pic>
        <p:nvPicPr>
          <p:cNvPr id="8" name="Picture 7" descr="A picture containing text, clock, antenna&#10;&#10;Description automatically generated">
            <a:extLst>
              <a:ext uri="{FF2B5EF4-FFF2-40B4-BE49-F238E27FC236}">
                <a16:creationId xmlns:a16="http://schemas.microsoft.com/office/drawing/2014/main" id="{609AA3A3-EFA9-42B5-86A5-252CA2647B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7400" y="681038"/>
            <a:ext cx="2787793" cy="1490172"/>
          </a:xfrm>
          <a:prstGeom prst="rect">
            <a:avLst/>
          </a:prstGeom>
        </p:spPr>
      </p:pic>
      <p:pic>
        <p:nvPicPr>
          <p:cNvPr id="9" name="Picture 8">
            <a:extLst>
              <a:ext uri="{FF2B5EF4-FFF2-40B4-BE49-F238E27FC236}">
                <a16:creationId xmlns:a16="http://schemas.microsoft.com/office/drawing/2014/main" id="{E53E8198-6790-401D-82AF-E6CB08E0F26D}"/>
              </a:ext>
            </a:extLst>
          </p:cNvPr>
          <p:cNvPicPr>
            <a:picLocks noChangeAspect="1"/>
          </p:cNvPicPr>
          <p:nvPr/>
        </p:nvPicPr>
        <p:blipFill>
          <a:blip r:embed="rId3"/>
          <a:stretch>
            <a:fillRect/>
          </a:stretch>
        </p:blipFill>
        <p:spPr>
          <a:xfrm>
            <a:off x="5105816" y="2424690"/>
            <a:ext cx="1838325" cy="1301817"/>
          </a:xfrm>
          <a:prstGeom prst="rect">
            <a:avLst/>
          </a:prstGeom>
        </p:spPr>
      </p:pic>
    </p:spTree>
    <p:extLst>
      <p:ext uri="{BB962C8B-B14F-4D97-AF65-F5344CB8AC3E}">
        <p14:creationId xmlns:p14="http://schemas.microsoft.com/office/powerpoint/2010/main" val="3306033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301B0B-6C98-43D8-A488-678F87450E72}"/>
              </a:ext>
            </a:extLst>
          </p:cNvPr>
          <p:cNvSpPr>
            <a:spLocks noGrp="1"/>
          </p:cNvSpPr>
          <p:nvPr>
            <p:ph idx="1"/>
          </p:nvPr>
        </p:nvSpPr>
        <p:spPr>
          <a:xfrm>
            <a:off x="838200" y="346229"/>
            <a:ext cx="10515600" cy="5830734"/>
          </a:xfrm>
        </p:spPr>
        <p:txBody>
          <a:bodyPr/>
          <a:lstStyle/>
          <a:p>
            <a:pPr marL="0" indent="0">
              <a:buNone/>
            </a:pPr>
            <a:r>
              <a:rPr lang="en-US" b="1" i="0" dirty="0">
                <a:solidFill>
                  <a:srgbClr val="292929"/>
                </a:solidFill>
                <a:effectLst/>
                <a:latin typeface="charter"/>
              </a:rPr>
              <a:t>v: </a:t>
            </a:r>
            <a:r>
              <a:rPr lang="en-US" b="0" i="0" dirty="0">
                <a:solidFill>
                  <a:srgbClr val="292929"/>
                </a:solidFill>
                <a:effectLst/>
                <a:latin typeface="charter"/>
              </a:rPr>
              <a:t>Process Noise/Uncertainty</a:t>
            </a:r>
          </a:p>
          <a:p>
            <a:r>
              <a:rPr lang="en-US" b="0" i="0" dirty="0">
                <a:solidFill>
                  <a:srgbClr val="292929"/>
                </a:solidFill>
                <a:effectLst/>
                <a:latin typeface="charter"/>
              </a:rPr>
              <a:t>It is nothing but determines random noise that might be present in the system. It is added to make the prediction bit accurate.</a:t>
            </a:r>
          </a:p>
          <a:p>
            <a:pPr marL="0" indent="0">
              <a:buNone/>
            </a:pPr>
            <a:r>
              <a:rPr lang="en-US" b="1" i="0" dirty="0">
                <a:solidFill>
                  <a:srgbClr val="292929"/>
                </a:solidFill>
                <a:effectLst/>
                <a:latin typeface="charter"/>
              </a:rPr>
              <a:t>Q:</a:t>
            </a:r>
            <a:r>
              <a:rPr lang="en-US" b="0" i="0" dirty="0">
                <a:solidFill>
                  <a:srgbClr val="292929"/>
                </a:solidFill>
                <a:effectLst/>
                <a:latin typeface="charter"/>
              </a:rPr>
              <a:t> Process Noise/Motion Noise</a:t>
            </a:r>
          </a:p>
          <a:p>
            <a:r>
              <a:rPr lang="en-US" b="0" i="0" dirty="0">
                <a:solidFill>
                  <a:srgbClr val="292929"/>
                </a:solidFill>
                <a:effectLst/>
                <a:latin typeface="charter"/>
              </a:rPr>
              <a:t>It gives uncertainty in the object’s position when predicting location. The model assumes velocity is constant between time intervals, but in reality we know that an object’s velocity can change due to acceleration. The model includes this uncertainty via the process noise.</a:t>
            </a:r>
          </a:p>
        </p:txBody>
      </p:sp>
    </p:spTree>
    <p:extLst>
      <p:ext uri="{BB962C8B-B14F-4D97-AF65-F5344CB8AC3E}">
        <p14:creationId xmlns:p14="http://schemas.microsoft.com/office/powerpoint/2010/main" val="3474335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1F1BF0-DCEE-4C34-881F-B55FA9867B59}"/>
              </a:ext>
            </a:extLst>
          </p:cNvPr>
          <p:cNvSpPr>
            <a:spLocks noGrp="1"/>
          </p:cNvSpPr>
          <p:nvPr>
            <p:ph idx="1"/>
          </p:nvPr>
        </p:nvSpPr>
        <p:spPr>
          <a:xfrm>
            <a:off x="838200" y="372862"/>
            <a:ext cx="10515600" cy="5804101"/>
          </a:xfrm>
        </p:spPr>
        <p:txBody>
          <a:bodyPr>
            <a:normAutofit/>
          </a:bodyPr>
          <a:lstStyle/>
          <a:p>
            <a:pPr marL="0" indent="0" algn="l">
              <a:buNone/>
            </a:pPr>
            <a:r>
              <a:rPr lang="en-US" b="1" dirty="0">
                <a:solidFill>
                  <a:srgbClr val="292929"/>
                </a:solidFill>
                <a:effectLst/>
                <a:latin typeface="charter"/>
              </a:rPr>
              <a:t>Update:</a:t>
            </a:r>
          </a:p>
          <a:p>
            <a:pPr marL="0" indent="0" algn="l">
              <a:buNone/>
            </a:pPr>
            <a:endParaRPr lang="en-US" i="1" dirty="0">
              <a:solidFill>
                <a:srgbClr val="292929"/>
              </a:solidFill>
              <a:latin typeface="charter"/>
            </a:endParaRPr>
          </a:p>
          <a:p>
            <a:pPr marL="0" indent="0" algn="l">
              <a:buNone/>
            </a:pPr>
            <a:r>
              <a:rPr lang="en-US" b="0" i="1" dirty="0">
                <a:solidFill>
                  <a:srgbClr val="292929"/>
                </a:solidFill>
                <a:effectLst/>
                <a:latin typeface="charter"/>
              </a:rPr>
              <a:t>Step 1 </a:t>
            </a:r>
            <a:r>
              <a:rPr lang="en-US" b="0" i="0" dirty="0">
                <a:solidFill>
                  <a:srgbClr val="292929"/>
                </a:solidFill>
                <a:effectLst/>
                <a:latin typeface="charter"/>
              </a:rPr>
              <a:t>: Find the difference between actual measured value and predicted value</a:t>
            </a:r>
          </a:p>
          <a:p>
            <a:pPr marL="0" indent="0" algn="l">
              <a:buNone/>
            </a:pPr>
            <a:r>
              <a:rPr lang="en-US" b="0" i="1" dirty="0">
                <a:solidFill>
                  <a:srgbClr val="292929"/>
                </a:solidFill>
                <a:effectLst/>
                <a:latin typeface="charter"/>
              </a:rPr>
              <a:t>Step 2 :</a:t>
            </a:r>
            <a:r>
              <a:rPr lang="en-US" b="0" i="0" dirty="0">
                <a:solidFill>
                  <a:srgbClr val="292929"/>
                </a:solidFill>
                <a:effectLst/>
                <a:latin typeface="charter"/>
              </a:rPr>
              <a:t> Calculate Kalman Gain</a:t>
            </a:r>
          </a:p>
          <a:p>
            <a:pPr marL="0" indent="0" algn="l">
              <a:buNone/>
            </a:pPr>
            <a:r>
              <a:rPr lang="en-US" b="0" i="1" dirty="0">
                <a:solidFill>
                  <a:srgbClr val="292929"/>
                </a:solidFill>
                <a:effectLst/>
                <a:latin typeface="charter"/>
              </a:rPr>
              <a:t>Step 3: </a:t>
            </a:r>
            <a:r>
              <a:rPr lang="en-US" b="0" i="0" dirty="0">
                <a:solidFill>
                  <a:srgbClr val="292929"/>
                </a:solidFill>
                <a:effectLst/>
                <a:latin typeface="charter"/>
              </a:rPr>
              <a:t>Based upon the result of Kalman </a:t>
            </a:r>
            <a:r>
              <a:rPr lang="en-US" b="0" i="0">
                <a:solidFill>
                  <a:srgbClr val="292929"/>
                </a:solidFill>
                <a:effectLst/>
                <a:latin typeface="charter"/>
              </a:rPr>
              <a:t>Gain calculate </a:t>
            </a:r>
            <a:r>
              <a:rPr lang="en-US" b="0" i="0" dirty="0">
                <a:solidFill>
                  <a:srgbClr val="292929"/>
                </a:solidFill>
                <a:effectLst/>
                <a:latin typeface="charter"/>
              </a:rPr>
              <a:t>new </a:t>
            </a:r>
            <a:r>
              <a:rPr lang="en-US" b="1" i="0" dirty="0">
                <a:solidFill>
                  <a:srgbClr val="292929"/>
                </a:solidFill>
                <a:effectLst/>
                <a:latin typeface="charter"/>
              </a:rPr>
              <a:t>x </a:t>
            </a:r>
            <a:r>
              <a:rPr lang="en-US" b="0" i="0" dirty="0">
                <a:solidFill>
                  <a:srgbClr val="292929"/>
                </a:solidFill>
                <a:effectLst/>
                <a:latin typeface="charter"/>
              </a:rPr>
              <a:t>and </a:t>
            </a:r>
            <a:r>
              <a:rPr lang="en-US" b="1" i="0" dirty="0">
                <a:solidFill>
                  <a:srgbClr val="292929"/>
                </a:solidFill>
                <a:effectLst/>
                <a:latin typeface="charter"/>
              </a:rPr>
              <a:t>P </a:t>
            </a:r>
            <a:r>
              <a:rPr lang="en-US" b="0" i="0" dirty="0">
                <a:solidFill>
                  <a:srgbClr val="292929"/>
                </a:solidFill>
                <a:effectLst/>
                <a:latin typeface="charter"/>
              </a:rPr>
              <a:t>.</a:t>
            </a:r>
          </a:p>
          <a:p>
            <a:pPr marL="0" indent="0">
              <a:buNone/>
            </a:pPr>
            <a:endParaRPr lang="en-US" b="0" i="0" dirty="0">
              <a:solidFill>
                <a:srgbClr val="292929"/>
              </a:solidFill>
              <a:effectLst/>
              <a:latin typeface="charter"/>
            </a:endParaRPr>
          </a:p>
          <a:p>
            <a:endParaRPr lang="en-US" dirty="0"/>
          </a:p>
        </p:txBody>
      </p:sp>
    </p:spTree>
    <p:extLst>
      <p:ext uri="{BB962C8B-B14F-4D97-AF65-F5344CB8AC3E}">
        <p14:creationId xmlns:p14="http://schemas.microsoft.com/office/powerpoint/2010/main" val="1533199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6DDB14D-40A7-4CB8-A89E-594F9CE667AA}"/>
              </a:ext>
            </a:extLst>
          </p:cNvPr>
          <p:cNvSpPr>
            <a:spLocks noGrp="1"/>
          </p:cNvSpPr>
          <p:nvPr>
            <p:ph idx="1"/>
          </p:nvPr>
        </p:nvSpPr>
        <p:spPr>
          <a:xfrm>
            <a:off x="838200" y="284163"/>
            <a:ext cx="10515600" cy="5892800"/>
          </a:xfrm>
        </p:spPr>
        <p:txBody>
          <a:bodyPr>
            <a:normAutofit/>
          </a:bodyPr>
          <a:lstStyle/>
          <a:p>
            <a:pPr marL="0" indent="0">
              <a:buNone/>
            </a:pPr>
            <a:r>
              <a:rPr lang="en-US" dirty="0"/>
              <a:t>Step 1:</a:t>
            </a:r>
          </a:p>
          <a:p>
            <a:pPr marL="0" indent="0">
              <a:buNone/>
            </a:pPr>
            <a:r>
              <a:rPr lang="en-US" dirty="0"/>
              <a:t>        y= z — </a:t>
            </a:r>
            <a:r>
              <a:rPr lang="en-US" dirty="0" err="1"/>
              <a:t>H.x</a:t>
            </a:r>
            <a:r>
              <a:rPr lang="en-US" dirty="0"/>
              <a:t>′</a:t>
            </a:r>
          </a:p>
          <a:p>
            <a:pPr marL="0" indent="0">
              <a:buNone/>
            </a:pPr>
            <a:r>
              <a:rPr lang="en-US" dirty="0"/>
              <a:t>z: Actual measurement data</a:t>
            </a:r>
          </a:p>
          <a:p>
            <a:r>
              <a:rPr lang="en-US" dirty="0"/>
              <a:t>It is the actual data that is coming from the sensor.</a:t>
            </a:r>
          </a:p>
          <a:p>
            <a:pPr marL="0" indent="0">
              <a:buNone/>
            </a:pPr>
            <a:r>
              <a:rPr lang="en-US" dirty="0"/>
              <a:t>H: State transition matrix</a:t>
            </a:r>
          </a:p>
          <a:p>
            <a:r>
              <a:rPr lang="en-US" dirty="0"/>
              <a:t>Same like F we use H to transform the state vector. But over here we use it to discard the information from the state vector that we do not require. </a:t>
            </a:r>
          </a:p>
          <a:p>
            <a:pPr marL="0" indent="0">
              <a:buNone/>
            </a:pPr>
            <a:r>
              <a:rPr lang="en-US" dirty="0"/>
              <a:t>for example for the measurement taken by the radar we only need to focus on the position of the vehicle and need not to bother about </a:t>
            </a:r>
            <a:r>
              <a:rPr lang="en-US" dirty="0" err="1"/>
              <a:t>veloctiy</a:t>
            </a:r>
            <a:r>
              <a:rPr lang="en-US" dirty="0"/>
              <a:t> as radar is only good at </a:t>
            </a:r>
            <a:r>
              <a:rPr lang="en-US" dirty="0" err="1"/>
              <a:t>determing</a:t>
            </a:r>
            <a:r>
              <a:rPr lang="en-US" dirty="0"/>
              <a:t> the position of the velocity.</a:t>
            </a:r>
          </a:p>
        </p:txBody>
      </p:sp>
    </p:spTree>
    <p:extLst>
      <p:ext uri="{BB962C8B-B14F-4D97-AF65-F5344CB8AC3E}">
        <p14:creationId xmlns:p14="http://schemas.microsoft.com/office/powerpoint/2010/main" val="2307647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1D576C-C7A6-436B-B6B9-8FC1B5D6850F}"/>
              </a:ext>
            </a:extLst>
          </p:cNvPr>
          <p:cNvSpPr>
            <a:spLocks noGrp="1"/>
          </p:cNvSpPr>
          <p:nvPr>
            <p:ph idx="1"/>
          </p:nvPr>
        </p:nvSpPr>
        <p:spPr>
          <a:xfrm>
            <a:off x="838200" y="355107"/>
            <a:ext cx="10515600" cy="5821856"/>
          </a:xfrm>
        </p:spPr>
        <p:txBody>
          <a:bodyPr>
            <a:normAutofit/>
          </a:bodyPr>
          <a:lstStyle/>
          <a:p>
            <a:pPr marL="0" indent="0">
              <a:buNone/>
            </a:pPr>
            <a:r>
              <a:rPr lang="en-US" dirty="0"/>
              <a:t>So in this case for our state vector that contains position and velocity of the vehicle the H matrix will be :</a:t>
            </a:r>
          </a:p>
          <a:p>
            <a:pPr marL="0" indent="0">
              <a:buNone/>
            </a:pPr>
            <a:endParaRPr lang="en-US" dirty="0"/>
          </a:p>
          <a:p>
            <a:pPr marL="0" indent="0">
              <a:buNone/>
            </a:pPr>
            <a:endParaRPr lang="en-US" dirty="0"/>
          </a:p>
          <a:p>
            <a:pPr marL="0" indent="0">
              <a:buNone/>
            </a:pPr>
            <a:r>
              <a:rPr lang="en-US" dirty="0"/>
              <a:t>Step 2:</a:t>
            </a:r>
          </a:p>
          <a:p>
            <a:pPr marL="0" indent="0">
              <a:buNone/>
            </a:pPr>
            <a:r>
              <a:rPr lang="en-US" dirty="0"/>
              <a:t>                 S= HP′Hᵀ + R</a:t>
            </a:r>
          </a:p>
          <a:p>
            <a:pPr marL="0" indent="0">
              <a:buNone/>
            </a:pPr>
            <a:r>
              <a:rPr lang="en-US" dirty="0"/>
              <a:t>                 K= P′HᵀS⁻¹</a:t>
            </a:r>
          </a:p>
          <a:p>
            <a:pPr marL="0" indent="0">
              <a:buNone/>
            </a:pPr>
            <a:r>
              <a:rPr lang="en-US" dirty="0"/>
              <a:t>R: Measurement Noise</a:t>
            </a:r>
          </a:p>
          <a:p>
            <a:pPr marL="0" indent="0">
              <a:buNone/>
            </a:pPr>
            <a:r>
              <a:rPr lang="en-US" dirty="0"/>
              <a:t>Measurement noise refers to uncertainty in sensor measurements, It means that the devices itself has noise and are not 100% accurate therefore these noise measurement values are provided by the manufacturer of the device itself and need not to be changed.</a:t>
            </a:r>
          </a:p>
          <a:p>
            <a:pPr marL="0" indent="0">
              <a:buNone/>
            </a:pPr>
            <a:endParaRPr lang="en-US" dirty="0"/>
          </a:p>
        </p:txBody>
      </p:sp>
      <p:pic>
        <p:nvPicPr>
          <p:cNvPr id="4" name="Picture 3">
            <a:extLst>
              <a:ext uri="{FF2B5EF4-FFF2-40B4-BE49-F238E27FC236}">
                <a16:creationId xmlns:a16="http://schemas.microsoft.com/office/drawing/2014/main" id="{7307DDB3-8497-4FF3-B554-49DEAA2A3026}"/>
              </a:ext>
            </a:extLst>
          </p:cNvPr>
          <p:cNvPicPr>
            <a:picLocks noChangeAspect="1"/>
          </p:cNvPicPr>
          <p:nvPr/>
        </p:nvPicPr>
        <p:blipFill>
          <a:blip r:embed="rId2"/>
          <a:stretch>
            <a:fillRect/>
          </a:stretch>
        </p:blipFill>
        <p:spPr>
          <a:xfrm>
            <a:off x="4737485" y="1109940"/>
            <a:ext cx="1704975" cy="1495425"/>
          </a:xfrm>
          <a:prstGeom prst="rect">
            <a:avLst/>
          </a:prstGeom>
        </p:spPr>
      </p:pic>
    </p:spTree>
    <p:extLst>
      <p:ext uri="{BB962C8B-B14F-4D97-AF65-F5344CB8AC3E}">
        <p14:creationId xmlns:p14="http://schemas.microsoft.com/office/powerpoint/2010/main" val="875252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7E9DC4-D857-4470-987F-2A551213BA07}"/>
              </a:ext>
            </a:extLst>
          </p:cNvPr>
          <p:cNvSpPr>
            <a:spLocks noGrp="1"/>
          </p:cNvSpPr>
          <p:nvPr>
            <p:ph idx="1"/>
          </p:nvPr>
        </p:nvSpPr>
        <p:spPr>
          <a:xfrm>
            <a:off x="838200" y="230819"/>
            <a:ext cx="10515600" cy="5946144"/>
          </a:xfrm>
        </p:spPr>
        <p:txBody>
          <a:bodyPr>
            <a:normAutofit lnSpcReduction="10000"/>
          </a:bodyPr>
          <a:lstStyle/>
          <a:p>
            <a:pPr marL="0" indent="0">
              <a:buNone/>
            </a:pPr>
            <a:r>
              <a:rPr lang="en-US" dirty="0"/>
              <a:t>S: Total Error</a:t>
            </a:r>
          </a:p>
          <a:p>
            <a:pPr marL="0" indent="0">
              <a:buNone/>
            </a:pPr>
            <a:r>
              <a:rPr lang="en-US" dirty="0"/>
              <a:t>     It is the sum of the prediction error plus the measurement error. As we have seen in the Kalman gain formula above we need to have the total error so here it is representer by S.</a:t>
            </a:r>
          </a:p>
          <a:p>
            <a:pPr marL="0" indent="0">
              <a:buNone/>
            </a:pPr>
            <a:r>
              <a:rPr lang="en-US" dirty="0"/>
              <a:t>K: Kalman Gain</a:t>
            </a:r>
          </a:p>
          <a:p>
            <a:pPr marL="0" indent="0">
              <a:buNone/>
            </a:pPr>
            <a:r>
              <a:rPr lang="en-US" dirty="0"/>
              <a:t>   We calculate the Kalman Gain by the simple formula </a:t>
            </a:r>
            <a:r>
              <a:rPr lang="en-US" dirty="0" err="1"/>
              <a:t>i</a:t>
            </a:r>
            <a:r>
              <a:rPr lang="en-US" dirty="0"/>
              <a:t> have shown earlier . The only thing is that in matrix we cannot divide so here we are taking S⁻¹ .</a:t>
            </a:r>
          </a:p>
          <a:p>
            <a:pPr marL="0" indent="0">
              <a:buNone/>
            </a:pPr>
            <a:r>
              <a:rPr lang="en-US" dirty="0"/>
              <a:t>Step 3:</a:t>
            </a:r>
          </a:p>
          <a:p>
            <a:pPr marL="0" indent="0">
              <a:buNone/>
            </a:pPr>
            <a:r>
              <a:rPr lang="en-US" dirty="0"/>
              <a:t>                x= x′ + </a:t>
            </a:r>
            <a:r>
              <a:rPr lang="en-US" dirty="0" err="1"/>
              <a:t>K.y</a:t>
            </a:r>
            <a:endParaRPr lang="en-US" dirty="0"/>
          </a:p>
          <a:p>
            <a:pPr marL="0" indent="0">
              <a:buNone/>
            </a:pPr>
            <a:r>
              <a:rPr lang="en-US" dirty="0"/>
              <a:t>                P = (I- KH)P′</a:t>
            </a:r>
          </a:p>
          <a:p>
            <a:pPr marL="0" indent="0">
              <a:buNone/>
            </a:pPr>
            <a:r>
              <a:rPr lang="en-US" dirty="0"/>
              <a:t>Finally we update are state vector and the covariance matrix and will move on to next prediction step to get the other values.</a:t>
            </a:r>
          </a:p>
        </p:txBody>
      </p:sp>
    </p:spTree>
    <p:extLst>
      <p:ext uri="{BB962C8B-B14F-4D97-AF65-F5344CB8AC3E}">
        <p14:creationId xmlns:p14="http://schemas.microsoft.com/office/powerpoint/2010/main" val="3347844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0C0341-FDFE-4F9A-B781-449F136CBB44}"/>
              </a:ext>
            </a:extLst>
          </p:cNvPr>
          <p:cNvSpPr>
            <a:spLocks noGrp="1"/>
          </p:cNvSpPr>
          <p:nvPr>
            <p:ph idx="1"/>
          </p:nvPr>
        </p:nvSpPr>
        <p:spPr>
          <a:xfrm>
            <a:off x="838200" y="301841"/>
            <a:ext cx="10515600" cy="5875122"/>
          </a:xfrm>
        </p:spPr>
        <p:txBody>
          <a:bodyPr/>
          <a:lstStyle/>
          <a:p>
            <a:pPr marL="0" indent="0">
              <a:buNone/>
            </a:pPr>
            <a:r>
              <a:rPr lang="en-US" b="1" dirty="0"/>
              <a:t>Problem with Kalman Filter</a:t>
            </a:r>
          </a:p>
          <a:p>
            <a:pPr marL="0" indent="0">
              <a:buNone/>
            </a:pPr>
            <a:r>
              <a:rPr lang="en-US" dirty="0"/>
              <a:t>All these function used in Kalman Filter are linear as they do not include any angle </a:t>
            </a:r>
            <a:r>
              <a:rPr lang="en-US" dirty="0" err="1"/>
              <a:t>prameter</a:t>
            </a:r>
            <a:r>
              <a:rPr lang="en-US" dirty="0"/>
              <a:t> in there equation therefore we can directly feed these linear function to Gaussian distribution to get a Gaussian distribution mean and variance.</a:t>
            </a:r>
          </a:p>
          <a:p>
            <a:pPr marL="0" indent="0">
              <a:buNone/>
            </a:pPr>
            <a:r>
              <a:rPr lang="en-US" dirty="0"/>
              <a:t> But in real life situation most of the problems are non-linear. Due to which we cannot directly feed this non-linear function to the Gaussian distribution as it will lead to non Gaussian distribution and we wont be able to apply Kalman Filter on it </a:t>
            </a:r>
            <a:r>
              <a:rPr lang="en-US"/>
              <a:t>anymore.</a:t>
            </a:r>
          </a:p>
          <a:p>
            <a:pPr marL="0" indent="0">
              <a:buNone/>
            </a:pPr>
            <a:r>
              <a:rPr lang="en-US"/>
              <a:t> </a:t>
            </a:r>
            <a:r>
              <a:rPr lang="en-US" dirty="0"/>
              <a:t>This problem of non linearity in Kalman Filter was resolved using Extended Kalman Filter.</a:t>
            </a:r>
          </a:p>
          <a:p>
            <a:endParaRPr lang="en-US" dirty="0"/>
          </a:p>
        </p:txBody>
      </p:sp>
    </p:spTree>
    <p:extLst>
      <p:ext uri="{BB962C8B-B14F-4D97-AF65-F5344CB8AC3E}">
        <p14:creationId xmlns:p14="http://schemas.microsoft.com/office/powerpoint/2010/main" val="2936354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e753c2c-bb14-4786-921b-97c6a6fc424f}" enabled="1" method="Standard" siteId="{3bd97919-57c3-48d3-9e9a-8e4c01614a8f}" contentBits="2" removed="0"/>
</clbl:labelList>
</file>

<file path=docProps/app.xml><?xml version="1.0" encoding="utf-8"?>
<Properties xmlns="http://schemas.openxmlformats.org/officeDocument/2006/extended-properties" xmlns:vt="http://schemas.openxmlformats.org/officeDocument/2006/docPropsVTypes">
  <TotalTime>0</TotalTime>
  <Words>1494</Words>
  <Application>Microsoft Office PowerPoint</Application>
  <PresentationFormat>Widescreen</PresentationFormat>
  <Paragraphs>90</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charter</vt:lpstr>
      <vt:lpstr>sohne</vt:lpstr>
      <vt:lpstr>Office Theme</vt:lpstr>
      <vt:lpstr>Kalman filter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Jahnavi, Yerramelli (uie72011)</dc:creator>
  <cp:lastModifiedBy>Jahnavi Yerramelli</cp:lastModifiedBy>
  <cp:revision>8</cp:revision>
  <dcterms:created xsi:type="dcterms:W3CDTF">2021-11-14T11:40:28Z</dcterms:created>
  <dcterms:modified xsi:type="dcterms:W3CDTF">2025-11-21T05:41:00Z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Internal</vt:lpwstr>
  </property>
</Properties>
</file>