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7" r:id="rId6"/>
    <p:sldId id="268" r:id="rId7"/>
    <p:sldId id="269" r:id="rId8"/>
    <p:sldId id="260" r:id="rId9"/>
    <p:sldId id="261" r:id="rId10"/>
    <p:sldId id="262" r:id="rId11"/>
    <p:sldId id="263" r:id="rId12"/>
    <p:sldId id="264" r:id="rId13"/>
    <p:sldId id="265" r:id="rId14"/>
    <p:sldId id="270"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86" d="100"/>
          <a:sy n="86" d="100"/>
        </p:scale>
        <p:origin x="-906" y="-8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DE809B4-872A-4DF0-86AA-E5A7B723975A}" type="datetimeFigureOut">
              <a:rPr lang="en-US" smtClean="0"/>
              <a:pPr/>
              <a:t>10/26/2021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3D667A-5707-48A0-80AB-16B693630E07}"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DE809B4-872A-4DF0-86AA-E5A7B723975A}" type="datetimeFigureOut">
              <a:rPr lang="en-US" smtClean="0"/>
              <a:pPr/>
              <a:t>10/26/2021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3D667A-5707-48A0-80AB-16B693630E0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DE809B4-872A-4DF0-86AA-E5A7B723975A}" type="datetimeFigureOut">
              <a:rPr lang="en-US" smtClean="0"/>
              <a:pPr/>
              <a:t>10/26/2021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3D667A-5707-48A0-80AB-16B693630E07}"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DE809B4-872A-4DF0-86AA-E5A7B723975A}" type="datetimeFigureOut">
              <a:rPr lang="en-US" smtClean="0"/>
              <a:pPr/>
              <a:t>10/26/2021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03D667A-5707-48A0-80AB-16B693630E0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DE809B4-872A-4DF0-86AA-E5A7B723975A}" type="datetimeFigureOut">
              <a:rPr lang="en-US" smtClean="0"/>
              <a:pPr/>
              <a:t>10/26/2021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03D667A-5707-48A0-80AB-16B693630E07}"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DE809B4-872A-4DF0-86AA-E5A7B723975A}" type="datetimeFigureOut">
              <a:rPr lang="en-US" smtClean="0"/>
              <a:pPr/>
              <a:t>10/26/2021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03D667A-5707-48A0-80AB-16B693630E0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E809B4-872A-4DF0-86AA-E5A7B723975A}" type="datetimeFigureOut">
              <a:rPr lang="en-US" smtClean="0"/>
              <a:pPr/>
              <a:t>10/26/2021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03D667A-5707-48A0-80AB-16B693630E0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DE809B4-872A-4DF0-86AA-E5A7B723975A}" type="datetimeFigureOut">
              <a:rPr lang="en-US" smtClean="0"/>
              <a:pPr/>
              <a:t>10/26/2021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03D667A-5707-48A0-80AB-16B693630E0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DE809B4-872A-4DF0-86AA-E5A7B723975A}" type="datetimeFigureOut">
              <a:rPr lang="en-US" smtClean="0"/>
              <a:pPr/>
              <a:t>10/26/2021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03D667A-5707-48A0-80AB-16B693630E07}"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DE809B4-872A-4DF0-86AA-E5A7B723975A}" type="datetimeFigureOut">
              <a:rPr lang="en-US" smtClean="0"/>
              <a:pPr/>
              <a:t>10/26/2021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3D667A-5707-48A0-80AB-16B693630E0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DE809B4-872A-4DF0-86AA-E5A7B723975A}" type="datetimeFigureOut">
              <a:rPr lang="en-US" smtClean="0"/>
              <a:pPr/>
              <a:t>10/26/2021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3D667A-5707-48A0-80AB-16B693630E07}"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E809B4-872A-4DF0-86AA-E5A7B723975A}" type="datetimeFigureOut">
              <a:rPr lang="en-US" smtClean="0"/>
              <a:pPr/>
              <a:t>10/26/2021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3D667A-5707-48A0-80AB-16B693630E07}" type="slidenum">
              <a:rPr lang="en-US" smtClean="0"/>
              <a:pPr/>
              <a:t>‹#›</a:t>
            </a:fld>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noFill/>
        </p:spPr>
        <p:txBody>
          <a:bodyPr>
            <a:normAutofit/>
          </a:bodyPr>
          <a:lstStyle/>
          <a:p>
            <a:r>
              <a:rPr lang="en-US" sz="4800" dirty="0" smtClean="0">
                <a:latin typeface="Arial Black" pitchFamily="34" charset="0"/>
              </a:rPr>
              <a:t>Introduction to CEM</a:t>
            </a:r>
            <a:endParaRPr lang="en-US" sz="4800" dirty="0">
              <a:latin typeface="Arial Black"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Levels Of Autonomous Vehicles</a:t>
            </a:r>
            <a:endParaRPr lang="en-US" dirty="0"/>
          </a:p>
        </p:txBody>
      </p:sp>
      <p:sp>
        <p:nvSpPr>
          <p:cNvPr id="3" name="Content Placeholder 2"/>
          <p:cNvSpPr>
            <a:spLocks noGrp="1"/>
          </p:cNvSpPr>
          <p:nvPr>
            <p:ph idx="1"/>
          </p:nvPr>
        </p:nvSpPr>
        <p:spPr/>
        <p:txBody>
          <a:bodyPr>
            <a:noAutofit/>
          </a:bodyPr>
          <a:lstStyle/>
          <a:p>
            <a:pPr algn="just"/>
            <a:r>
              <a:rPr lang="en-US" sz="2800" dirty="0" smtClean="0"/>
              <a:t>In 2014, the SAE International, previously known as the Society of Automotive Engineers (SAE) introduced </a:t>
            </a:r>
            <a:r>
              <a:rPr lang="en-US" sz="2800" smtClean="0"/>
              <a:t>the J3016(standard used to define different levels of automation in a vehicle) </a:t>
            </a:r>
            <a:r>
              <a:rPr lang="en-US" sz="2800" dirty="0" smtClean="0"/>
              <a:t>“Levels of Driving Automation” standard for consumers. The J3016 standard defines the six distinct levels of driving automation, starting from SAE level 0 where the driver is in full control of the vehicle, to SAE level 5 where vehicles can control all aspects of the dynamic driving tasks without human intervention.</a:t>
            </a:r>
            <a:endParaRPr 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158" y="285728"/>
            <a:ext cx="8229600" cy="6072230"/>
          </a:xfrm>
        </p:spPr>
        <p:txBody>
          <a:bodyPr>
            <a:normAutofit lnSpcReduction="10000"/>
          </a:bodyPr>
          <a:lstStyle/>
          <a:p>
            <a:r>
              <a:rPr lang="en-IN" sz="2800" b="1" dirty="0"/>
              <a:t>1</a:t>
            </a:r>
            <a:r>
              <a:rPr lang="en-IN" sz="2800" b="1" dirty="0" smtClean="0"/>
              <a:t>. SAE </a:t>
            </a:r>
            <a:r>
              <a:rPr lang="en-IN" sz="2800" b="1" dirty="0"/>
              <a:t>Level 0</a:t>
            </a:r>
            <a:r>
              <a:rPr lang="en-IN" dirty="0"/>
              <a:t>:</a:t>
            </a:r>
            <a:endParaRPr lang="en-IN" dirty="0" smtClean="0"/>
          </a:p>
          <a:p>
            <a:pPr>
              <a:buNone/>
            </a:pPr>
            <a:r>
              <a:rPr lang="en-IN" sz="2400" b="1" dirty="0" smtClean="0"/>
              <a:t>No Automation</a:t>
            </a:r>
            <a:r>
              <a:rPr lang="en-IN" dirty="0" smtClean="0"/>
              <a:t>:</a:t>
            </a:r>
          </a:p>
          <a:p>
            <a:pPr algn="just">
              <a:buNone/>
            </a:pPr>
            <a:r>
              <a:rPr lang="en-IN" sz="2000" dirty="0" smtClean="0"/>
              <a:t>              The Human Driver Performs all driving aspects of driving tasks</a:t>
            </a:r>
          </a:p>
          <a:p>
            <a:pPr algn="just">
              <a:buNone/>
            </a:pPr>
            <a:r>
              <a:rPr lang="en-IN" sz="2000" dirty="0"/>
              <a:t> </a:t>
            </a:r>
            <a:r>
              <a:rPr lang="en-IN" sz="2000" dirty="0" smtClean="0"/>
              <a:t>              Ex: steering, acceleration</a:t>
            </a:r>
          </a:p>
          <a:p>
            <a:r>
              <a:rPr lang="en-IN" sz="2800" b="1" dirty="0" smtClean="0"/>
              <a:t>2. SAE Level 1</a:t>
            </a:r>
            <a:r>
              <a:rPr lang="en-IN" dirty="0" smtClean="0"/>
              <a:t>:</a:t>
            </a:r>
          </a:p>
          <a:p>
            <a:pPr>
              <a:buNone/>
            </a:pPr>
            <a:r>
              <a:rPr lang="en-IN" sz="2400" b="1" dirty="0" smtClean="0"/>
              <a:t>Driver Assistance</a:t>
            </a:r>
            <a:r>
              <a:rPr lang="en-IN" dirty="0" smtClean="0"/>
              <a:t>:</a:t>
            </a:r>
          </a:p>
          <a:p>
            <a:pPr algn="just">
              <a:buNone/>
            </a:pPr>
            <a:r>
              <a:rPr lang="en-IN" sz="2000" dirty="0"/>
              <a:t> </a:t>
            </a:r>
            <a:r>
              <a:rPr lang="en-IN" sz="2000" dirty="0" smtClean="0"/>
              <a:t>              The vehicle features a single automated system for driver assistance, such as steering or acceleration/deceleration and with the anticipation that human driver performs all remaining aspects of driving tool</a:t>
            </a:r>
            <a:r>
              <a:rPr lang="en-IN" sz="2400" dirty="0" smtClean="0"/>
              <a:t>.</a:t>
            </a:r>
          </a:p>
          <a:p>
            <a:r>
              <a:rPr lang="en-IN" sz="2800" b="1" dirty="0" smtClean="0"/>
              <a:t>3. SAE Level 2</a:t>
            </a:r>
            <a:r>
              <a:rPr lang="en-IN" b="1" dirty="0" smtClean="0"/>
              <a:t>:</a:t>
            </a:r>
          </a:p>
          <a:p>
            <a:pPr>
              <a:buNone/>
            </a:pPr>
            <a:r>
              <a:rPr lang="en-IN" sz="2400" b="1" dirty="0" smtClean="0"/>
              <a:t>Partial Automation</a:t>
            </a:r>
            <a:r>
              <a:rPr lang="en-IN" sz="2400" dirty="0" smtClean="0"/>
              <a:t>:</a:t>
            </a:r>
          </a:p>
          <a:p>
            <a:pPr algn="just">
              <a:buNone/>
            </a:pPr>
            <a:r>
              <a:rPr lang="en-IN" sz="2200" dirty="0"/>
              <a:t> </a:t>
            </a:r>
            <a:r>
              <a:rPr lang="en-IN" sz="2200" dirty="0" smtClean="0"/>
              <a:t>              </a:t>
            </a:r>
            <a:r>
              <a:rPr lang="en-IN" sz="2000" dirty="0" smtClean="0"/>
              <a:t>The vehicle can perform steering and acceleration/deceleration. However, the human driver required to monitor the driving environment and can take control at any time.</a:t>
            </a:r>
          </a:p>
          <a:p>
            <a:pPr>
              <a:buNone/>
            </a:pPr>
            <a:endParaRPr lang="en-IN" dirty="0" smtClean="0"/>
          </a:p>
          <a:p>
            <a:pPr>
              <a:buNone/>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85728"/>
            <a:ext cx="8229600" cy="5840435"/>
          </a:xfrm>
        </p:spPr>
        <p:txBody>
          <a:bodyPr/>
          <a:lstStyle/>
          <a:p>
            <a:r>
              <a:rPr lang="en-IN" sz="2800" b="1" dirty="0" smtClean="0"/>
              <a:t>4. SAE </a:t>
            </a:r>
            <a:r>
              <a:rPr lang="en-IN" sz="2800" b="1" dirty="0" smtClean="0"/>
              <a:t>Level 3</a:t>
            </a:r>
            <a:r>
              <a:rPr lang="en-IN" dirty="0" smtClean="0"/>
              <a:t>:</a:t>
            </a:r>
          </a:p>
          <a:p>
            <a:pPr>
              <a:buNone/>
            </a:pPr>
            <a:r>
              <a:rPr lang="en-IN" sz="2400" b="1" dirty="0" smtClean="0"/>
              <a:t>Conditional Automation</a:t>
            </a:r>
            <a:r>
              <a:rPr lang="en-IN" dirty="0" smtClean="0"/>
              <a:t>:</a:t>
            </a:r>
          </a:p>
          <a:p>
            <a:pPr>
              <a:buNone/>
            </a:pPr>
            <a:r>
              <a:rPr lang="en-IN" sz="2000" dirty="0"/>
              <a:t> </a:t>
            </a:r>
            <a:r>
              <a:rPr lang="en-IN" sz="2000" dirty="0" smtClean="0"/>
              <a:t>             The vehicle can detect obstrucles in driving environment and can perform most driving tasks. Thought, human override is still required.</a:t>
            </a:r>
          </a:p>
          <a:p>
            <a:r>
              <a:rPr lang="en-IN" sz="2800" b="1" dirty="0" smtClean="0"/>
              <a:t>5. SAE </a:t>
            </a:r>
            <a:r>
              <a:rPr lang="en-IN" sz="2800" b="1" dirty="0" smtClean="0"/>
              <a:t>Level 4</a:t>
            </a:r>
            <a:r>
              <a:rPr lang="en-IN" sz="2000" dirty="0" smtClean="0"/>
              <a:t>:</a:t>
            </a:r>
          </a:p>
          <a:p>
            <a:pPr>
              <a:buNone/>
            </a:pPr>
            <a:r>
              <a:rPr lang="en-IN" sz="2400" b="1" dirty="0" smtClean="0"/>
              <a:t>High Automation</a:t>
            </a:r>
            <a:r>
              <a:rPr lang="en-IN" sz="2000" dirty="0" smtClean="0"/>
              <a:t>:</a:t>
            </a:r>
          </a:p>
          <a:p>
            <a:pPr>
              <a:buNone/>
            </a:pPr>
            <a:r>
              <a:rPr lang="en-IN" sz="2000" dirty="0"/>
              <a:t> </a:t>
            </a:r>
            <a:r>
              <a:rPr lang="en-IN" sz="2000" dirty="0" smtClean="0"/>
              <a:t>               The vehicle can perform all aspects of dynamic driving task under specific scenarios. Human overriding is still an option.</a:t>
            </a:r>
          </a:p>
          <a:p>
            <a:r>
              <a:rPr lang="en-IN" sz="2800" b="1" dirty="0" smtClean="0"/>
              <a:t>6. SAE </a:t>
            </a:r>
            <a:r>
              <a:rPr lang="en-IN" sz="2800" b="1" dirty="0" smtClean="0"/>
              <a:t>Level 5</a:t>
            </a:r>
            <a:r>
              <a:rPr lang="en-IN" sz="2000" dirty="0" smtClean="0"/>
              <a:t>:</a:t>
            </a:r>
          </a:p>
          <a:p>
            <a:pPr>
              <a:buNone/>
            </a:pPr>
            <a:r>
              <a:rPr lang="en-IN" sz="2400" b="1" dirty="0" smtClean="0"/>
              <a:t>Full Automation</a:t>
            </a:r>
            <a:r>
              <a:rPr lang="en-IN" sz="2000" dirty="0" smtClean="0"/>
              <a:t>:</a:t>
            </a:r>
          </a:p>
          <a:p>
            <a:pPr>
              <a:buNone/>
            </a:pPr>
            <a:r>
              <a:rPr lang="en-IN" sz="2000" dirty="0"/>
              <a:t> </a:t>
            </a:r>
            <a:r>
              <a:rPr lang="en-IN" sz="2000" dirty="0" smtClean="0"/>
              <a:t>                The vehicle performs all driving tasks under all conditions and scenarios without human intervention.</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39784"/>
          </a:xfrm>
        </p:spPr>
        <p:txBody>
          <a:bodyPr/>
          <a:lstStyle/>
          <a:p>
            <a:r>
              <a:rPr lang="en-IN" dirty="0" smtClean="0"/>
              <a:t>Types of sensor fusion:</a:t>
            </a:r>
            <a:endParaRPr lang="en-US" dirty="0"/>
          </a:p>
        </p:txBody>
      </p:sp>
      <p:sp>
        <p:nvSpPr>
          <p:cNvPr id="3" name="Content Placeholder 2"/>
          <p:cNvSpPr>
            <a:spLocks noGrp="1"/>
          </p:cNvSpPr>
          <p:nvPr>
            <p:ph idx="1"/>
          </p:nvPr>
        </p:nvSpPr>
        <p:spPr>
          <a:xfrm>
            <a:off x="457200" y="1214422"/>
            <a:ext cx="8229600" cy="4911741"/>
          </a:xfrm>
        </p:spPr>
        <p:txBody>
          <a:bodyPr>
            <a:normAutofit fontScale="92500"/>
          </a:bodyPr>
          <a:lstStyle/>
          <a:p>
            <a:r>
              <a:rPr lang="en-US" sz="2600" b="1" dirty="0" smtClean="0"/>
              <a:t>Sensor Fusion by Abstraction Level:</a:t>
            </a:r>
          </a:p>
          <a:p>
            <a:pPr algn="just">
              <a:buNone/>
            </a:pPr>
            <a:r>
              <a:rPr lang="en-US" sz="2000" dirty="0" smtClean="0"/>
              <a:t>The most common types of fusion is by abstraction level. In this case, we're asking</a:t>
            </a:r>
          </a:p>
          <a:p>
            <a:pPr algn="just">
              <a:buNone/>
            </a:pPr>
            <a:r>
              <a:rPr lang="en-US" sz="2000" dirty="0" smtClean="0"/>
              <a:t>the question " </a:t>
            </a:r>
            <a:r>
              <a:rPr lang="en-US" sz="2000" b="1" u="sng" dirty="0" smtClean="0"/>
              <a:t>When should we do the fusion</a:t>
            </a:r>
            <a:r>
              <a:rPr lang="en-US" sz="2000" dirty="0" smtClean="0"/>
              <a:t>?“</a:t>
            </a:r>
          </a:p>
          <a:p>
            <a:pPr>
              <a:buNone/>
            </a:pPr>
            <a:r>
              <a:rPr lang="en-US" sz="2600" b="1" dirty="0" smtClean="0"/>
              <a:t>1.Low Level Fusion </a:t>
            </a:r>
            <a:r>
              <a:rPr lang="en-US" sz="2000" b="1" dirty="0" smtClean="0"/>
              <a:t>- Fusing the RAW DATA</a:t>
            </a:r>
          </a:p>
          <a:p>
            <a:pPr>
              <a:buNone/>
            </a:pPr>
            <a:r>
              <a:rPr lang="en-US" sz="2000" dirty="0" smtClean="0"/>
              <a:t>Low Level Sensor Fusion is about fusing the raw data coming from multiple</a:t>
            </a:r>
          </a:p>
          <a:p>
            <a:pPr>
              <a:buNone/>
            </a:pPr>
            <a:r>
              <a:rPr lang="en-US" sz="2000" dirty="0" smtClean="0"/>
              <a:t>sensors. </a:t>
            </a:r>
          </a:p>
          <a:p>
            <a:pPr>
              <a:buNone/>
            </a:pPr>
            <a:r>
              <a:rPr lang="en-US" sz="2600" b="1" dirty="0" smtClean="0"/>
              <a:t>2.Mid Level Fusion</a:t>
            </a:r>
            <a:r>
              <a:rPr lang="en-US" sz="2000" b="1" dirty="0" smtClean="0"/>
              <a:t> - Fusing the DETECTIONS</a:t>
            </a:r>
          </a:p>
          <a:p>
            <a:pPr>
              <a:buNone/>
            </a:pPr>
            <a:r>
              <a:rPr lang="en-US" sz="2000" dirty="0" smtClean="0"/>
              <a:t>Mid-Level sensor fusion is about fusing the objects detected independently</a:t>
            </a:r>
          </a:p>
          <a:p>
            <a:pPr>
              <a:buNone/>
            </a:pPr>
            <a:r>
              <a:rPr lang="en-US" sz="2000" dirty="0" smtClean="0"/>
              <a:t>on sensor data.</a:t>
            </a:r>
          </a:p>
          <a:p>
            <a:pPr>
              <a:buNone/>
            </a:pPr>
            <a:r>
              <a:rPr lang="en-US" sz="2000" dirty="0" smtClean="0"/>
              <a:t>If a camera detects an obstacle, and a radar detects it, we'll fuse these results</a:t>
            </a:r>
          </a:p>
          <a:p>
            <a:pPr>
              <a:buNone/>
            </a:pPr>
            <a:r>
              <a:rPr lang="en-US" sz="2000" dirty="0" smtClean="0"/>
              <a:t>to have the best estimate of the position, class, and velocity of the obstacle. </a:t>
            </a:r>
          </a:p>
          <a:p>
            <a:pPr>
              <a:buNone/>
            </a:pPr>
            <a:r>
              <a:rPr lang="en-US" sz="2600" b="1" dirty="0" smtClean="0"/>
              <a:t>3.High Level Fusion </a:t>
            </a:r>
            <a:r>
              <a:rPr lang="en-US" sz="2000" b="1" dirty="0" smtClean="0"/>
              <a:t>- Fusing the TRACKS</a:t>
            </a:r>
          </a:p>
          <a:p>
            <a:pPr>
              <a:buNone/>
            </a:pPr>
            <a:r>
              <a:rPr lang="en-US" sz="2000" dirty="0" smtClean="0"/>
              <a:t>Finally, high level sensor fusion is about fusing both objects and their trajectories. </a:t>
            </a:r>
          </a:p>
          <a:p>
            <a:pPr>
              <a:buNone/>
            </a:pPr>
            <a:endParaRPr lang="en-US" sz="2000" dirty="0" smtClean="0"/>
          </a:p>
          <a:p>
            <a:pPr>
              <a:buNone/>
            </a:pPr>
            <a:endParaRPr lang="en-US" sz="2000" dirty="0" smtClean="0"/>
          </a:p>
          <a:p>
            <a:pPr>
              <a:buNone/>
            </a:pPr>
            <a:endParaRPr lang="en-US" sz="2000" dirty="0" smtClean="0"/>
          </a:p>
          <a:p>
            <a:pPr>
              <a:buNone/>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2852"/>
            <a:ext cx="8229600" cy="6143668"/>
          </a:xfrm>
        </p:spPr>
        <p:txBody>
          <a:bodyPr>
            <a:normAutofit/>
          </a:bodyPr>
          <a:lstStyle/>
          <a:p>
            <a:r>
              <a:rPr lang="en-US" sz="2400" b="1" dirty="0" smtClean="0"/>
              <a:t>Sensor Fusion by Centralization Level</a:t>
            </a:r>
          </a:p>
          <a:p>
            <a:pPr algn="just">
              <a:buNone/>
            </a:pPr>
            <a:r>
              <a:rPr lang="en-US" sz="2000" dirty="0" smtClean="0"/>
              <a:t>The second way to classify a Fusion algorithm is by centralization level. Here,</a:t>
            </a:r>
          </a:p>
          <a:p>
            <a:pPr algn="just">
              <a:buNone/>
            </a:pPr>
            <a:r>
              <a:rPr lang="en-US" sz="2000" dirty="0" smtClean="0"/>
              <a:t>we're asking the question " </a:t>
            </a:r>
            <a:r>
              <a:rPr lang="en-US" sz="2000" b="1" u="sng" dirty="0" smtClean="0"/>
              <a:t>Where is the fusion happening?</a:t>
            </a:r>
            <a:r>
              <a:rPr lang="en-US" sz="2000" dirty="0" smtClean="0"/>
              <a:t>". The main</a:t>
            </a:r>
          </a:p>
          <a:p>
            <a:pPr algn="just">
              <a:buNone/>
            </a:pPr>
            <a:r>
              <a:rPr lang="en-US" sz="2000" dirty="0" smtClean="0"/>
              <a:t>computer can do it, or each sensor can do its own detection and fusion. </a:t>
            </a:r>
          </a:p>
          <a:p>
            <a:pPr>
              <a:buNone/>
            </a:pPr>
            <a:r>
              <a:rPr lang="en-US" sz="2400" b="1" dirty="0" smtClean="0"/>
              <a:t>1.Centralized</a:t>
            </a:r>
            <a:r>
              <a:rPr lang="en-US" sz="2000" b="1" dirty="0" smtClean="0"/>
              <a:t> </a:t>
            </a:r>
            <a:r>
              <a:rPr lang="en-US" sz="2000" dirty="0" smtClean="0"/>
              <a:t>- One central unit deals with the fusion.</a:t>
            </a:r>
          </a:p>
          <a:p>
            <a:pPr>
              <a:buNone/>
            </a:pPr>
            <a:r>
              <a:rPr lang="en-US" sz="2400" b="1" dirty="0" smtClean="0"/>
              <a:t>2.Decentralized</a:t>
            </a:r>
            <a:r>
              <a:rPr lang="en-US" sz="2000" dirty="0" smtClean="0"/>
              <a:t> - Each sensor fuses data and forward it to the next one.</a:t>
            </a:r>
          </a:p>
          <a:p>
            <a:pPr>
              <a:buNone/>
            </a:pPr>
            <a:r>
              <a:rPr lang="en-US" sz="2400" b="1" dirty="0" smtClean="0"/>
              <a:t>3.Distributed</a:t>
            </a:r>
            <a:r>
              <a:rPr lang="en-US" sz="2000" dirty="0" smtClean="0"/>
              <a:t> - Each sensor processes the data locally and send it to the next unit.</a:t>
            </a:r>
          </a:p>
          <a:p>
            <a:r>
              <a:rPr lang="en-US" sz="2400" b="1" dirty="0" smtClean="0"/>
              <a:t>Sensor Fusion by Competition Level</a:t>
            </a:r>
          </a:p>
          <a:p>
            <a:pPr>
              <a:buNone/>
            </a:pPr>
            <a:r>
              <a:rPr lang="en-US" sz="2000" dirty="0" smtClean="0"/>
              <a:t>In Competition Level, we're asking "</a:t>
            </a:r>
            <a:r>
              <a:rPr lang="en-US" sz="2000" b="1" u="sng" dirty="0" smtClean="0"/>
              <a:t>What</a:t>
            </a:r>
            <a:r>
              <a:rPr lang="en-US" sz="2000" b="1" dirty="0" smtClean="0"/>
              <a:t> should the fusion do?</a:t>
            </a:r>
            <a:r>
              <a:rPr lang="en-US" sz="2000" dirty="0" smtClean="0"/>
              <a:t>“</a:t>
            </a:r>
          </a:p>
          <a:p>
            <a:pPr>
              <a:buNone/>
            </a:pPr>
            <a:r>
              <a:rPr lang="en-US" sz="2400" b="1" dirty="0" smtClean="0"/>
              <a:t>1.Competitive Fusion</a:t>
            </a:r>
          </a:p>
          <a:p>
            <a:pPr algn="just">
              <a:buNone/>
            </a:pPr>
            <a:r>
              <a:rPr lang="en-US" sz="2000" dirty="0" smtClean="0"/>
              <a:t>Competitive Fusion is when sensors are meant for the same purpose. For</a:t>
            </a:r>
          </a:p>
          <a:p>
            <a:pPr algn="just">
              <a:buNone/>
            </a:pPr>
            <a:r>
              <a:rPr lang="en-US" sz="2000" dirty="0" smtClean="0"/>
              <a:t>example, when we use both a RADAR and a LIDAR to detect the presence of  </a:t>
            </a:r>
          </a:p>
          <a:p>
            <a:pPr algn="just">
              <a:buNone/>
            </a:pPr>
            <a:r>
              <a:rPr lang="en-US" sz="2000" dirty="0" smtClean="0"/>
              <a:t>pedestrian. Here, the data fusion process happening is called redundancy,</a:t>
            </a:r>
          </a:p>
          <a:p>
            <a:pPr algn="just">
              <a:buNone/>
            </a:pPr>
            <a:r>
              <a:rPr lang="en-US" sz="2000" dirty="0" smtClean="0"/>
              <a:t>thus the "competitive" term.</a:t>
            </a:r>
          </a:p>
          <a:p>
            <a:pPr>
              <a:buNone/>
            </a:pPr>
            <a:endParaRPr lang="en-US" sz="2000" dirty="0" smtClean="0"/>
          </a:p>
          <a:p>
            <a:pPr>
              <a:buNone/>
            </a:pPr>
            <a:endParaRPr lang="en-US" sz="2400" b="1" dirty="0" smtClean="0"/>
          </a:p>
          <a:p>
            <a:pPr>
              <a:buNone/>
            </a:pPr>
            <a:endParaRPr lang="en-US" sz="2000" dirty="0" smtClean="0"/>
          </a:p>
          <a:p>
            <a:pPr>
              <a:buNone/>
            </a:pP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8596" y="142852"/>
            <a:ext cx="8229600" cy="5983311"/>
          </a:xfrm>
        </p:spPr>
        <p:txBody>
          <a:bodyPr>
            <a:normAutofit/>
          </a:bodyPr>
          <a:lstStyle/>
          <a:p>
            <a:pPr>
              <a:buNone/>
            </a:pPr>
            <a:r>
              <a:rPr lang="en-US" sz="2000" b="1" dirty="0" smtClean="0"/>
              <a:t>2. </a:t>
            </a:r>
            <a:r>
              <a:rPr lang="en-US" sz="2400" b="1" dirty="0" smtClean="0"/>
              <a:t>Complementary Fusion</a:t>
            </a:r>
          </a:p>
          <a:p>
            <a:pPr algn="just">
              <a:buNone/>
            </a:pPr>
            <a:r>
              <a:rPr lang="en-US" sz="2000" dirty="0" smtClean="0"/>
              <a:t>Complementary fusion is about using different sensors looking at different</a:t>
            </a:r>
          </a:p>
          <a:p>
            <a:pPr algn="just">
              <a:buNone/>
            </a:pPr>
            <a:r>
              <a:rPr lang="en-US" sz="2000" dirty="0" smtClean="0"/>
              <a:t>scenes to get something we couldn't have obtained otherwise</a:t>
            </a:r>
            <a:r>
              <a:rPr lang="en-US" sz="2000" dirty="0" smtClean="0"/>
              <a:t>.</a:t>
            </a:r>
          </a:p>
          <a:p>
            <a:pPr algn="just">
              <a:buNone/>
            </a:pPr>
            <a:r>
              <a:rPr lang="en-US" sz="2000" dirty="0" smtClean="0"/>
              <a:t> </a:t>
            </a:r>
            <a:r>
              <a:rPr lang="en-US" sz="2000" dirty="0" smtClean="0"/>
              <a:t>For </a:t>
            </a:r>
            <a:r>
              <a:rPr lang="en-US" sz="2000" dirty="0" smtClean="0"/>
              <a:t>example, when </a:t>
            </a:r>
            <a:r>
              <a:rPr lang="en-US" sz="2000" dirty="0" smtClean="0"/>
              <a:t>building a panorama with multiple cameras. Since these </a:t>
            </a:r>
            <a:r>
              <a:rPr lang="en-US" sz="2000" dirty="0" smtClean="0"/>
              <a:t>sensors complete </a:t>
            </a:r>
            <a:r>
              <a:rPr lang="en-US" sz="2000" dirty="0" smtClean="0"/>
              <a:t>each other, we use the term "complementary".</a:t>
            </a:r>
          </a:p>
          <a:p>
            <a:pPr>
              <a:buNone/>
            </a:pPr>
            <a:endParaRPr lang="en-US" sz="2000" dirty="0" smtClean="0"/>
          </a:p>
          <a:p>
            <a:pPr>
              <a:buNone/>
            </a:pPr>
            <a:r>
              <a:rPr lang="en-US" sz="2000" b="1" dirty="0" smtClean="0"/>
              <a:t>3. </a:t>
            </a:r>
            <a:r>
              <a:rPr lang="en-US" sz="2400" b="1" dirty="0" smtClean="0"/>
              <a:t>Coordinated Fusion</a:t>
            </a:r>
          </a:p>
          <a:p>
            <a:pPr>
              <a:buNone/>
            </a:pPr>
            <a:r>
              <a:rPr lang="en-US" sz="2000" dirty="0" smtClean="0"/>
              <a:t>Finally, coordinated fusion is about using two or more sensors to produce a</a:t>
            </a:r>
          </a:p>
          <a:p>
            <a:pPr>
              <a:buNone/>
            </a:pPr>
            <a:r>
              <a:rPr lang="en-US" sz="2000" dirty="0" smtClean="0"/>
              <a:t>new scene, but this time looking at the same object. </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Architecture Of Autonomous Driving System:</a:t>
            </a:r>
            <a:endParaRPr lang="en-US" dirty="0"/>
          </a:p>
        </p:txBody>
      </p:sp>
      <p:pic>
        <p:nvPicPr>
          <p:cNvPr id="1026" name="Picture 2"/>
          <p:cNvPicPr>
            <a:picLocks noGrp="1" noChangeAspect="1" noChangeArrowheads="1"/>
          </p:cNvPicPr>
          <p:nvPr>
            <p:ph idx="1"/>
          </p:nvPr>
        </p:nvPicPr>
        <p:blipFill>
          <a:blip r:embed="rId2"/>
          <a:srcRect/>
          <a:stretch>
            <a:fillRect/>
          </a:stretch>
        </p:blipFill>
        <p:spPr bwMode="auto">
          <a:xfrm>
            <a:off x="0" y="1571612"/>
            <a:ext cx="9144000" cy="5286388"/>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457200" y="357166"/>
            <a:ext cx="8229600" cy="6500834"/>
          </a:xfrm>
        </p:spPr>
        <p:txBody>
          <a:bodyPr>
            <a:normAutofit lnSpcReduction="10000"/>
          </a:bodyPr>
          <a:lstStyle/>
          <a:p>
            <a:pPr>
              <a:buNone/>
            </a:pPr>
            <a:endParaRPr lang="en-IN" dirty="0" smtClean="0"/>
          </a:p>
          <a:p>
            <a:pPr>
              <a:buNone/>
            </a:pPr>
            <a:endParaRPr lang="en-IN" dirty="0" smtClean="0"/>
          </a:p>
          <a:p>
            <a:pPr>
              <a:buNone/>
            </a:pPr>
            <a:endParaRPr lang="en-IN" dirty="0" smtClean="0"/>
          </a:p>
          <a:p>
            <a:pPr>
              <a:buNone/>
            </a:pPr>
            <a:endParaRPr lang="en-IN" dirty="0" smtClean="0"/>
          </a:p>
          <a:p>
            <a:pPr>
              <a:buNone/>
            </a:pPr>
            <a:endParaRPr lang="en-IN" dirty="0" smtClean="0"/>
          </a:p>
          <a:p>
            <a:pPr>
              <a:buNone/>
            </a:pPr>
            <a:endParaRPr lang="en-IN" dirty="0" smtClean="0"/>
          </a:p>
          <a:p>
            <a:pPr>
              <a:buNone/>
            </a:pPr>
            <a:endParaRPr lang="en-IN" dirty="0" smtClean="0"/>
          </a:p>
          <a:p>
            <a:pPr>
              <a:buNone/>
            </a:pPr>
            <a:endParaRPr lang="en-IN" sz="2800" dirty="0" smtClean="0"/>
          </a:p>
          <a:p>
            <a:pPr>
              <a:buNone/>
            </a:pPr>
            <a:endParaRPr lang="en-IN" sz="2800" dirty="0" smtClean="0"/>
          </a:p>
          <a:p>
            <a:pPr>
              <a:buNone/>
            </a:pPr>
            <a:endParaRPr lang="en-IN" sz="2800" dirty="0" smtClean="0"/>
          </a:p>
          <a:p>
            <a:pPr>
              <a:buNone/>
            </a:pPr>
            <a:endParaRPr lang="en-IN" sz="2800" dirty="0" smtClean="0"/>
          </a:p>
          <a:p>
            <a:pPr>
              <a:buNone/>
            </a:pPr>
            <a:r>
              <a:rPr lang="en-IN" sz="2800" dirty="0" smtClean="0"/>
              <a:t>A functional perspective that describes the four main functional blocks and flow of information.</a:t>
            </a:r>
          </a:p>
          <a:p>
            <a:pPr>
              <a:buNone/>
            </a:pPr>
            <a:endParaRPr lang="en-US" dirty="0"/>
          </a:p>
        </p:txBody>
      </p:sp>
      <p:pic>
        <p:nvPicPr>
          <p:cNvPr id="7" name="Picture 2"/>
          <p:cNvPicPr>
            <a:picLocks noChangeAspect="1" noChangeArrowheads="1"/>
          </p:cNvPicPr>
          <p:nvPr/>
        </p:nvPicPr>
        <p:blipFill>
          <a:blip r:embed="rId2"/>
          <a:srcRect/>
          <a:stretch>
            <a:fillRect/>
          </a:stretch>
        </p:blipFill>
        <p:spPr bwMode="auto">
          <a:xfrm>
            <a:off x="0" y="0"/>
            <a:ext cx="9144000" cy="5857892"/>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smtClean="0"/>
              <a:t>Adaptive Cruise Control</a:t>
            </a:r>
            <a:endParaRPr lang="en-US" sz="3200" dirty="0"/>
          </a:p>
        </p:txBody>
      </p:sp>
      <p:sp>
        <p:nvSpPr>
          <p:cNvPr id="3" name="Content Placeholder 2"/>
          <p:cNvSpPr>
            <a:spLocks noGrp="1"/>
          </p:cNvSpPr>
          <p:nvPr>
            <p:ph idx="1"/>
          </p:nvPr>
        </p:nvSpPr>
        <p:spPr/>
        <p:txBody>
          <a:bodyPr>
            <a:normAutofit/>
          </a:bodyPr>
          <a:lstStyle/>
          <a:p>
            <a:pPr algn="just"/>
            <a:r>
              <a:rPr lang="en-US" sz="2000" dirty="0" smtClean="0"/>
              <a:t>Adaptive cruise control (ACC) is a system designed to help vehicles maintain a safe following distance and stay within the speed limit. This system adjusts a car's speed automatically so drivers don't have to.</a:t>
            </a:r>
          </a:p>
          <a:p>
            <a:pPr algn="just"/>
            <a:r>
              <a:rPr lang="en-US" sz="2000" dirty="0" smtClean="0"/>
              <a:t>ACC functions by sensory technology installed within vehicles such as cameras, lasers, and radar equipment, which creates an idea of how close one car is to another, or other objects on the roadway.</a:t>
            </a:r>
          </a:p>
          <a:p>
            <a:pPr algn="just"/>
            <a:r>
              <a:rPr lang="en-US" sz="2000" b="1" dirty="0" smtClean="0"/>
              <a:t>Radar-based systems</a:t>
            </a:r>
            <a:r>
              <a:rPr lang="en-US" sz="2000" dirty="0" smtClean="0"/>
              <a:t> use the Doppler effect(The Doppler effect, or Doppler shift, </a:t>
            </a:r>
            <a:r>
              <a:rPr lang="en-US" sz="2000" b="1" dirty="0" smtClean="0"/>
              <a:t>describes the changes in frequency of any kind of sound or light wave produced by a moving source with respect to an observer</a:t>
            </a:r>
            <a:r>
              <a:rPr lang="en-US" sz="2000" dirty="0" smtClean="0"/>
              <a:t>) to detect objects with a relative speed distance within a certain angle – usually 65 degrees – from the sensor. They can identify other objects up to a distance of about 1,000 feet. </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14356"/>
            <a:ext cx="8229600" cy="5411807"/>
          </a:xfrm>
        </p:spPr>
        <p:txBody>
          <a:bodyPr>
            <a:normAutofit/>
          </a:bodyPr>
          <a:lstStyle/>
          <a:p>
            <a:pPr algn="just"/>
            <a:r>
              <a:rPr lang="en-US" sz="2000" b="1" dirty="0" smtClean="0"/>
              <a:t> Laser-based systems</a:t>
            </a:r>
            <a:r>
              <a:rPr lang="en-US" sz="2000" dirty="0" smtClean="0"/>
              <a:t> aren’t quite as innocuous(not harmful) as radars. Radar systems can usually be hidden in a small box or compartment near the front of the car, whereas lasers must have their sensors exposed to detect anything. Lasers also don’t work as well in rain or fog and have trouble sensing vehicles that are dirty</a:t>
            </a:r>
          </a:p>
          <a:p>
            <a:pPr>
              <a:buNone/>
            </a:pPr>
            <a:endParaRPr lang="en-US" sz="2000" dirty="0" smtClean="0"/>
          </a:p>
          <a:p>
            <a:pPr>
              <a:buNone/>
            </a:pPr>
            <a:r>
              <a:rPr lang="en-US" sz="2000" dirty="0" smtClean="0"/>
              <a:t>Automakers offer ACC in three different types:</a:t>
            </a:r>
          </a:p>
          <a:p>
            <a:r>
              <a:rPr lang="en-US" sz="2000" dirty="0" smtClean="0"/>
              <a:t>Full-speed range</a:t>
            </a:r>
          </a:p>
          <a:p>
            <a:r>
              <a:rPr lang="en-US" sz="2000" dirty="0" smtClean="0"/>
              <a:t>Stop &amp; Go, and</a:t>
            </a:r>
          </a:p>
          <a:p>
            <a:r>
              <a:rPr lang="en-US" sz="2000" dirty="0" smtClean="0"/>
              <a:t>Partial cruise control</a:t>
            </a:r>
          </a:p>
          <a:p>
            <a:pPr algn="just">
              <a:buNone/>
            </a:pPr>
            <a:endParaRPr lang="en-US" sz="2000" dirty="0" smtClean="0"/>
          </a:p>
          <a:p>
            <a:pPr algn="just">
              <a:buNone/>
            </a:pPr>
            <a:r>
              <a:rPr lang="en-US" sz="2000" dirty="0" smtClean="0"/>
              <a:t>Full speed range can bring the car to a full stop but must be re-activated by</a:t>
            </a:r>
          </a:p>
          <a:p>
            <a:pPr algn="just">
              <a:buNone/>
            </a:pPr>
            <a:r>
              <a:rPr lang="en-US" sz="2000" dirty="0" smtClean="0"/>
              <a:t>tapping the gas pedal. Stop &amp; Go will stop the car completely and accelerate</a:t>
            </a:r>
          </a:p>
          <a:p>
            <a:pPr algn="just">
              <a:buNone/>
            </a:pPr>
            <a:r>
              <a:rPr lang="en-US" sz="2000" dirty="0" smtClean="0"/>
              <a:t>again slowly. Partial cruise control turns off below a set minimum speed.</a:t>
            </a:r>
          </a:p>
          <a:p>
            <a:pPr>
              <a:buNone/>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Collision avoidance system</a:t>
            </a:r>
            <a:endParaRPr lang="en-US" dirty="0"/>
          </a:p>
        </p:txBody>
      </p:sp>
      <p:sp>
        <p:nvSpPr>
          <p:cNvPr id="3" name="Content Placeholder 2"/>
          <p:cNvSpPr>
            <a:spLocks noGrp="1"/>
          </p:cNvSpPr>
          <p:nvPr>
            <p:ph idx="1"/>
          </p:nvPr>
        </p:nvSpPr>
        <p:spPr/>
        <p:txBody>
          <a:bodyPr>
            <a:normAutofit lnSpcReduction="10000"/>
          </a:bodyPr>
          <a:lstStyle/>
          <a:p>
            <a:pPr algn="just"/>
            <a:r>
              <a:rPr lang="en-US" sz="2000" dirty="0" smtClean="0"/>
              <a:t>A collision avoidance system, also known as a driver assistance system, is a safety system designed to prevent a collision or decrease its severity in the few seconds before it occurs. </a:t>
            </a:r>
          </a:p>
          <a:p>
            <a:pPr algn="just"/>
            <a:r>
              <a:rPr lang="en-US" sz="2000" dirty="0" smtClean="0"/>
              <a:t>Collision avoidance systems use a variety of technologies and sensors, such as radar, lasers, cameras, GPS, and artificial intelligence. Not all collision avoidance systems are created equally—some warn or alert, while others override the driver to assist them in avoiding collisions and mitigating risk.</a:t>
            </a:r>
          </a:p>
          <a:p>
            <a:pPr>
              <a:buNone/>
            </a:pPr>
            <a:r>
              <a:rPr lang="en-IN" sz="2000" b="1" dirty="0" smtClean="0"/>
              <a:t>Types:</a:t>
            </a:r>
            <a:endParaRPr lang="en-US" sz="2000" b="1" dirty="0" smtClean="0"/>
          </a:p>
          <a:p>
            <a:pPr algn="just"/>
            <a:r>
              <a:rPr lang="en-US" sz="2000" b="1" dirty="0" smtClean="0"/>
              <a:t>Forward collision warning system (FCW): </a:t>
            </a:r>
            <a:r>
              <a:rPr lang="en-US" sz="2000" dirty="0" smtClean="0"/>
              <a:t>An FCW system is an advanced safety technology that monitors a vehicle's speed, the speed of the vehicle in front of it, and the distance between the vehicles. If vehicles get too close due to the speed of the rear vehicle, the FCW system will warn that driver of an </a:t>
            </a:r>
            <a:r>
              <a:rPr lang="en-US" sz="2000" dirty="0" smtClean="0"/>
              <a:t>crash</a:t>
            </a:r>
            <a:r>
              <a:rPr lang="en-US" sz="2000" dirty="0" smtClean="0"/>
              <a:t>.</a:t>
            </a:r>
          </a:p>
          <a:p>
            <a:pPr>
              <a:buNone/>
            </a:pP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80000"/>
                <a:satMod val="300000"/>
              </a:schemeClr>
            </a:gs>
            <a:gs pos="0">
              <a:schemeClr val="bg2">
                <a:tint val="80000"/>
                <a:satMod val="300000"/>
              </a:schemeClr>
            </a:gs>
            <a:gs pos="0">
              <a:schemeClr val="bg2">
                <a:tint val="80000"/>
                <a:satMod val="300000"/>
              </a:schemeClr>
            </a:gs>
            <a:gs pos="100000">
              <a:schemeClr val="bg2">
                <a:shade val="30000"/>
                <a:satMod val="20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85794"/>
            <a:ext cx="8229600" cy="5340369"/>
          </a:xfrm>
        </p:spPr>
        <p:txBody>
          <a:bodyPr>
            <a:normAutofit fontScale="85000" lnSpcReduction="20000"/>
          </a:bodyPr>
          <a:lstStyle/>
          <a:p>
            <a:pPr algn="just"/>
            <a:r>
              <a:rPr lang="en-US" sz="2400" b="1" dirty="0" smtClean="0"/>
              <a:t>Lane departure warning system: </a:t>
            </a:r>
            <a:r>
              <a:rPr lang="en-US" sz="2400" dirty="0" smtClean="0"/>
              <a:t>This type of collision avoidance system is designed to alert drivers if their vehicle begins to drift out of their lane, and can be particularly useful for aiding with blind spot detection in real time.</a:t>
            </a:r>
          </a:p>
          <a:p>
            <a:pPr algn="just"/>
            <a:endParaRPr lang="en-US" sz="2000" b="1" dirty="0" smtClean="0"/>
          </a:p>
          <a:p>
            <a:pPr algn="just"/>
            <a:r>
              <a:rPr lang="en-US" sz="2400" b="1" dirty="0" smtClean="0"/>
              <a:t>Pedestrian detection system</a:t>
            </a:r>
            <a:r>
              <a:rPr lang="en-US" sz="2400" dirty="0" smtClean="0"/>
              <a:t>: Pedestrians and cyclists can be some of the most vulnerable targets for vehicles, with pedestrians accounting for nearly a quarter of all fatalities(an occurrence of death by accident) on the road. A pedestrian detection system uses sensors to identify human movement on the road—like cyclists—in an attempt to help drivers see a moving object before it’s too late</a:t>
            </a:r>
            <a:r>
              <a:rPr lang="en-US" sz="2200" dirty="0" smtClean="0"/>
              <a:t>.</a:t>
            </a:r>
          </a:p>
          <a:p>
            <a:pPr algn="just"/>
            <a:endParaRPr lang="en-US" sz="2000" dirty="0" smtClean="0"/>
          </a:p>
          <a:p>
            <a:pPr algn="just"/>
            <a:r>
              <a:rPr lang="en-US" sz="2400" b="1" dirty="0" smtClean="0"/>
              <a:t>Automatic braking system</a:t>
            </a:r>
            <a:r>
              <a:rPr lang="en-US" sz="2400" dirty="0" smtClean="0"/>
              <a:t>: An AEB is a technology that automatically activates the vehicle’s braking system when it senses an oncoming object. Certain automatic emergency braking (AEB) systems will only apply a portion of the braking power to allow the driver more time to step in, while other systems will pump the brakes until the vehicle comes to a full stop.</a:t>
            </a:r>
          </a:p>
          <a:p>
            <a:pPr algn="just">
              <a:buNone/>
            </a:pPr>
            <a:r>
              <a:rPr lang="en-US" sz="2400" dirty="0" smtClean="0"/>
              <a:t/>
            </a:r>
            <a:br>
              <a:rPr lang="en-US" sz="2400" dirty="0" smtClean="0"/>
            </a:br>
            <a:endParaRPr lang="en-US" sz="2400" dirty="0" smtClean="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43182"/>
            <a:ext cx="8229600" cy="1785950"/>
          </a:xfrm>
        </p:spPr>
        <p:txBody>
          <a:bodyPr>
            <a:normAutofit/>
          </a:bodyPr>
          <a:lstStyle/>
          <a:p>
            <a:r>
              <a:rPr lang="en-IN" dirty="0" smtClean="0"/>
              <a:t>THANK YOU</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2087</TotalTime>
  <Words>860</Words>
  <Application>Microsoft Office PowerPoint</Application>
  <PresentationFormat>On-screen Show (4:3)</PresentationFormat>
  <Paragraphs>101</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Introduction to CEM</vt:lpstr>
      <vt:lpstr>Levels Of Autonomous Vehicles</vt:lpstr>
      <vt:lpstr>Slide 3</vt:lpstr>
      <vt:lpstr>Slide 4</vt:lpstr>
      <vt:lpstr>Types of sensor fusion:</vt:lpstr>
      <vt:lpstr>Slide 6</vt:lpstr>
      <vt:lpstr>Slide 7</vt:lpstr>
      <vt:lpstr>Architecture Of Autonomous Driving System:</vt:lpstr>
      <vt:lpstr>Slide 9</vt:lpstr>
      <vt:lpstr>Adaptive Cruise Control</vt:lpstr>
      <vt:lpstr>Slide 11</vt:lpstr>
      <vt:lpstr>Collision avoidance system</vt:lpstr>
      <vt:lpstr>Slide 13</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ADMIN</cp:lastModifiedBy>
  <cp:revision>141</cp:revision>
  <dcterms:created xsi:type="dcterms:W3CDTF">2021-10-23T05:47:10Z</dcterms:created>
  <dcterms:modified xsi:type="dcterms:W3CDTF">2021-10-26T03:28:44Z</dcterms:modified>
</cp:coreProperties>
</file>